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quý thầy cô và các bạn. Em là Nguyễn Tiến Đạt, em xin trình bày báo cáo thực tập tốt nghiệp với đề tài Tự động hóa triển khai phần mềm kết hợp giám sát tập trung trên nền tảng Kubernetes, dưới sự hướng dẫn của TS. Đặng Ngọc Hùng.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trình bày gồm sáu phần: bối cảnh và bài toán, mục tiêu phạm vi, cơ sở lý thuyết, thiết kế hệ thống, quá trình triển khai, và cuối cùng là demo cùng kết quả đánh giá.</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hiện tại mang nặng tính thủ công, dẫn tới năm hạn chế chính: triển khai chậm dễ sai, rollback chậm, khó truy vết sự cố do log phân tán, thiếu kiểm soát chất lượng tự động và rủi ro an toàn quản trị khi nhiều người truy cập trực tiếp máy chủ.</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là xây dựng và vận hành nền tảng CI/CD tự động theo GitOps, tích hợp kiểm soát chất lượng, bảo mật image và giám sát tập trung, quản trị an toàn qua JUMP server, và đánh giá theo chỉ số DORA. Phạm vi tập trung vào nền tảng và quy trình cho một ứng dụng dịch vụ; các tính năng nâng cao là hướng phát triển.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Đề tài vận dụng đồng bộ các công nghệ mã nguồn mở phổ biến: DevOps và CI/CD, container hóa với Kubernetes, GitOps với Argo CD, kiểm soát chất lượng và registry bảo mật, quan sát hệ thống với ELK và Prometheus–Grafana, và đo lường hiệu quả bằng nhóm chỉ số DORA.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được phân thành các vùng chức năng: vùng quản trị với JUMP server và Rancher; vùng nguồn và CI gồm GitLab, Jenkins, SonarQube, Harbor; vùng vận hành là cụm Kubernetes với Argo CD; và vùng quan sát gồm Kafka–ELK và Prometheus–Grafana. Luồng đi từ đánh tag trên GitLab, qua Jenkins, tới Argo CD đồng bộ lên Kubernetes.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phân tách thành các vùng mạng ngăn cách bằng tường lửa. Quản trị viên không truy cập trực tiếp máy chủ sản xuất mà bắt buộc đi qua JUMP server — mọi phiên đều được ghi log phục vụ kiểm toán. Đây là mô hình bastion theo nguyên tắc bảo mật theo lớp và least-privilege.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Luồng hoạt động: lập trình viên đánh tag trên GitLab kích hoạt webhook chạy Jenkins. Jenkins thực hiện clone, build Maven, phân tích SonarQube, build và push image lên Harbor (tự quét Trivy), rồi cập nhật appVersion trong Helm Chart ở kho devsecops. Argo CD phát hiện thay đổi và đồng bộ lên Kubernetes. Kết thúc gửi thông báo qua Telegram.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Tích hợp liên tục: GitLab lưu mã nguồn và kho devsecops, kích hoạt bằng webhook khi đánh tag. Jenkins chạy pipeline theo Pipeline as Code, đăng nhập qua LDAP. SonarQube đối chiếu mã nguồn với cổng chất lượng — chỉ khi đạt thì pipeline mới tiếp tục build và đóng gói image.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sau khi build được đẩy lên Harbor — registry nội bộ. Harbor tích hợp sẵn Trivy để tự động quét lỗ hổng mỗi khi push, kèm chính sách chặn pull những image có lỗ hổng vượt ngưỡng, góp phần bảo mật chuỗi cung ứng phần mềm.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Argo CD theo dõi kho devsecops và tự đồng bộ trạng thái mong muốn vào cụm Kubernetes; cơ chế tự phục hồi bảo đảm cụm luôn khớp với Git. Giao diện cho thấy ứng dụng ở trạng thái Synced và Healthy cùng toàn bộ cây tài nguyên Deployment, Service, Pod, Ingress.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Giám sát tập trung gồm hai mảng. Log: Filebeat thu từ các pod, đẩy vào Kafka làm hàng đợi đệm, Logstash xử lý và ghi vào Elasticsearch, Kibana trực quan hóa. Metrics: Prometheus thu thập, Grafana hiển thị và cảnh báo. Nhờ đó dev và vận hành cùng tra cứu, giảm thời gian xử lý sự cố.</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1 minh chứng triển khai tự động: chỉ cần đánh tag trên GitLab, toàn bộ chuỗi CI/CD tự động chạy — build, quét, đóng gói, cập nhật cấu hình, Argo CD đồng bộ lên Kubernetes, pod kéo image từ registry nội bộ và khởi chạy. Kết thúc có thông báo Telegram. Toàn trình chỉ mất vài phút với gần như không thao tác tay.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2 kiểm thử khả năng khôi phục. Khi một phiên bản gặp sự cố, quản trị viên vào Argo CD, mục History and Rollback, chọn phiên bản ổn định trước đó để quay lui. Nhờ GitOps, việc rollback nhanh chóng và minh bạch, giúp giảm mạnh thời gian khôi phục MTTR.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Đánh giá theo bốn chỉ số DORA, so sánh trước và sau. Lead time rút ngắn từ vài giờ xuống còn 5–10 phút; tần suất triển khai tăng từ 1–2 lần mỗi tuần lên nhiều lần mỗi ngày; MTTR giảm từ 30–60 phút xuống còn vài phút; số thao tác tay khi phát hành gần như bằng không. Số liệu mang tính minh họa theo môi trường thực tập nhưng phản ánh rõ xu hướng cải thiện.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Tong ket, de tai da xay dung va van hanh thanh cong nen tang CI/CD tu dong theo GitOps, tich hop kiem soat chat luong, bao mat image va giam sat tap trung, quan tri an toan qua JUMP server, voi ket qua cai thien ro ret theo chi so DORA. Huong nghien cuu va ap dung trong tam tiep theo la mo rong nen tang sang MLOps va AIOps. Em xin tran trong cam on va san sang lang nghe gop y cua quy thay co.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Oval 1"/>
          <p:cNvSpPr/>
          <p:nvPr/>
        </p:nvSpPr>
        <p:spPr>
          <a:xfrm>
            <a:off x="640080" y="914400"/>
            <a:ext cx="256032" cy="25603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4127" y="914400"/>
            <a:ext cx="256032" cy="256032"/>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08176" y="914400"/>
            <a:ext cx="256032" cy="256032"/>
          </a:xfrm>
          <a:prstGeom prst="ellipse">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10881360" cy="457200"/>
          </a:xfrm>
          <a:prstGeom prst="rect">
            <a:avLst/>
          </a:prstGeom>
          <a:noFill/>
        </p:spPr>
        <p:txBody>
          <a:bodyPr wrap="square" anchor="t" lIns="0" rIns="0" tIns="0" bIns="0">
            <a:spAutoFit/>
          </a:bodyPr>
          <a:lstStyle/>
          <a:p>
            <a:pPr algn="l">
              <a:spcAft>
                <a:spcPts val="400"/>
              </a:spcAft>
            </a:pPr>
            <a:r>
              <a:rPr sz="1400" b="1" i="0">
                <a:solidFill>
                  <a:srgbClr val="0A6E66"/>
                </a:solidFill>
                <a:latin typeface="Calibri"/>
              </a:rPr>
              <a:t>HỌC VIỆN CÔNG NGHỆ BƯU CHÍNH VIỄN THÔNG</a:t>
            </a:r>
          </a:p>
        </p:txBody>
      </p:sp>
      <p:sp>
        <p:nvSpPr>
          <p:cNvPr id="6" name="TextBox 5"/>
          <p:cNvSpPr txBox="1"/>
          <p:nvPr/>
        </p:nvSpPr>
        <p:spPr>
          <a:xfrm>
            <a:off x="640080" y="1737360"/>
            <a:ext cx="10881360" cy="365760"/>
          </a:xfrm>
          <a:prstGeom prst="rect">
            <a:avLst/>
          </a:prstGeom>
          <a:noFill/>
        </p:spPr>
        <p:txBody>
          <a:bodyPr wrap="square" anchor="t" lIns="0" rIns="0" tIns="0" bIns="0">
            <a:spAutoFit/>
          </a:bodyPr>
          <a:lstStyle/>
          <a:p>
            <a:pPr algn="l">
              <a:spcAft>
                <a:spcPts val="400"/>
              </a:spcAft>
            </a:pPr>
            <a:r>
              <a:rPr sz="1250" b="0" i="0">
                <a:solidFill>
                  <a:srgbClr val="64748B"/>
                </a:solidFill>
                <a:latin typeface="Calibri"/>
              </a:rPr>
              <a:t>Khoa Công nghệ thông tin 1  •  Báo cáo thực tập tốt nghiệp</a:t>
            </a:r>
          </a:p>
        </p:txBody>
      </p:sp>
      <p:sp>
        <p:nvSpPr>
          <p:cNvPr id="7" name="TextBox 6"/>
          <p:cNvSpPr txBox="1"/>
          <p:nvPr/>
        </p:nvSpPr>
        <p:spPr>
          <a:xfrm>
            <a:off x="640080" y="2468880"/>
            <a:ext cx="10881360" cy="1828800"/>
          </a:xfrm>
          <a:prstGeom prst="rect">
            <a:avLst/>
          </a:prstGeom>
          <a:noFill/>
        </p:spPr>
        <p:txBody>
          <a:bodyPr wrap="square" anchor="t" lIns="0" rIns="0" tIns="0" bIns="0">
            <a:spAutoFit/>
          </a:bodyPr>
          <a:lstStyle/>
          <a:p>
            <a:pPr algn="l">
              <a:lnSpc>
                <a:spcPct val="105000"/>
              </a:lnSpc>
              <a:spcAft>
                <a:spcPts val="400"/>
              </a:spcAft>
            </a:pPr>
            <a:r>
              <a:rPr sz="4000" b="1" i="0">
                <a:solidFill>
                  <a:srgbClr val="1E293B"/>
                </a:solidFill>
                <a:latin typeface="Calibri"/>
              </a:rPr>
              <a:t>TỰ ĐỘNG HÓA TRIỂN KHAI PHẦN MỀM</a:t>
            </a:r>
          </a:p>
          <a:p>
            <a:pPr algn="l">
              <a:lnSpc>
                <a:spcPct val="105000"/>
              </a:lnSpc>
              <a:spcAft>
                <a:spcPts val="400"/>
              </a:spcAft>
            </a:pPr>
            <a:r>
              <a:rPr sz="2900" b="1" i="0">
                <a:solidFill>
                  <a:srgbClr val="0D9488"/>
                </a:solidFill>
                <a:latin typeface="Calibri"/>
              </a:rPr>
              <a:t>KẾT HỢP GIÁM SÁT TẬP TRUNG TRÊN NỀN TẢNG KUBERNETES</a:t>
            </a:r>
          </a:p>
        </p:txBody>
      </p:sp>
      <p:sp>
        <p:nvSpPr>
          <p:cNvPr id="8" name="Rounded Rectangle 7"/>
          <p:cNvSpPr/>
          <p:nvPr/>
        </p:nvSpPr>
        <p:spPr>
          <a:xfrm>
            <a:off x="640080" y="4846320"/>
            <a:ext cx="6766560" cy="1371600"/>
          </a:xfrm>
          <a:prstGeom prst="roundRect">
            <a:avLst/>
          </a:prstGeom>
          <a:solidFill>
            <a:srgbClr val="EC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29200"/>
            <a:ext cx="6400800" cy="1097280"/>
          </a:xfrm>
          <a:prstGeom prst="rect">
            <a:avLst/>
          </a:prstGeom>
          <a:noFill/>
        </p:spPr>
        <p:txBody>
          <a:bodyPr wrap="square" anchor="t" lIns="0" rIns="0" tIns="0" bIns="0">
            <a:spAutoFit/>
          </a:bodyPr>
          <a:lstStyle/>
          <a:p>
            <a:pPr algn="l">
              <a:spcAft>
                <a:spcPts val="600"/>
              </a:spcAft>
            </a:pPr>
            <a:r>
              <a:rPr sz="1400" b="1" i="0">
                <a:solidFill>
                  <a:srgbClr val="0A6E66"/>
                </a:solidFill>
                <a:latin typeface="Calibri"/>
              </a:rPr>
              <a:t>Học viên: </a:t>
            </a:r>
            <a:r>
              <a:rPr sz="1400" b="0" i="0">
                <a:solidFill>
                  <a:srgbClr val="1E293B"/>
                </a:solidFill>
                <a:latin typeface="Calibri"/>
              </a:rPr>
              <a:t>Nguyễn Tiến Đạt  —  M25CQHT01-B</a:t>
            </a:r>
          </a:p>
          <a:p>
            <a:pPr algn="l">
              <a:spcAft>
                <a:spcPts val="600"/>
              </a:spcAft>
            </a:pPr>
            <a:r>
              <a:rPr sz="1400" b="1" i="0">
                <a:solidFill>
                  <a:srgbClr val="0A6E66"/>
                </a:solidFill>
                <a:latin typeface="Calibri"/>
              </a:rPr>
              <a:t>Mã học viên: </a:t>
            </a:r>
            <a:r>
              <a:rPr sz="1400" b="0" i="0">
                <a:solidFill>
                  <a:srgbClr val="1E293B"/>
                </a:solidFill>
                <a:latin typeface="Calibri"/>
              </a:rPr>
              <a:t>B25CHHT009</a:t>
            </a:r>
          </a:p>
          <a:p>
            <a:pPr algn="l">
              <a:spcAft>
                <a:spcPts val="600"/>
              </a:spcAft>
            </a:pPr>
            <a:r>
              <a:rPr sz="1400" b="1" i="0">
                <a:solidFill>
                  <a:srgbClr val="0A6E66"/>
                </a:solidFill>
                <a:latin typeface="Calibri"/>
              </a:rPr>
              <a:t>GVHD: </a:t>
            </a:r>
            <a:r>
              <a:rPr sz="1400" b="0" i="0">
                <a:solidFill>
                  <a:srgbClr val="1E293B"/>
                </a:solidFill>
                <a:latin typeface="Calibri"/>
              </a:rPr>
              <a:t>TS. Đặng Ngọc Hùng</a:t>
            </a:r>
          </a:p>
        </p:txBody>
      </p:sp>
      <p:pic>
        <p:nvPicPr>
          <p:cNvPr id="10" name="Picture 9" descr="logo.jpg"/>
          <p:cNvPicPr>
            <a:picLocks noChangeAspect="1"/>
          </p:cNvPicPr>
          <p:nvPr/>
        </p:nvPicPr>
        <p:blipFill>
          <a:blip r:embed="rId2"/>
          <a:stretch>
            <a:fillRect/>
          </a:stretch>
        </p:blipFill>
        <p:spPr>
          <a:xfrm>
            <a:off x="9692640" y="4800600"/>
            <a:ext cx="1554480" cy="1554480"/>
          </a:xfrm>
          <a:prstGeom prst="rect">
            <a:avLst/>
          </a:prstGeom>
        </p:spPr>
      </p:pic>
      <p:sp>
        <p:nvSpPr>
          <p:cNvPr id="11" name="TextBox 10"/>
          <p:cNvSpPr txBox="1"/>
          <p:nvPr/>
        </p:nvSpPr>
        <p:spPr>
          <a:xfrm>
            <a:off x="640080" y="6400800"/>
            <a:ext cx="10881360" cy="365760"/>
          </a:xfrm>
          <a:prstGeom prst="rect">
            <a:avLst/>
          </a:prstGeom>
          <a:noFill/>
        </p:spPr>
        <p:txBody>
          <a:bodyPr wrap="square" anchor="t" lIns="0" rIns="0" tIns="0" bIns="0">
            <a:spAutoFit/>
          </a:bodyPr>
          <a:lstStyle/>
          <a:p>
            <a:pPr algn="l">
              <a:spcAft>
                <a:spcPts val="400"/>
              </a:spcAft>
            </a:pPr>
            <a:r>
              <a:rPr sz="1200" b="0" i="1">
                <a:solidFill>
                  <a:srgbClr val="64748B"/>
                </a:solidFill>
                <a:latin typeface="Calibri"/>
              </a:rPr>
              <a:t>Hà Nội, tháng 6 năm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640080" y="457200"/>
            <a:ext cx="8229600" cy="365760"/>
          </a:xfrm>
          <a:prstGeom prst="rect">
            <a:avLst/>
          </a:prstGeom>
          <a:noFill/>
        </p:spPr>
        <p:txBody>
          <a:bodyPr wrap="square" anchor="t" lIns="0" rIns="0" tIns="0" bIns="0">
            <a:spAutoFit/>
          </a:bodyPr>
          <a:lstStyle/>
          <a:p>
            <a:pPr algn="l">
              <a:spcAft>
                <a:spcPts val="400"/>
              </a:spcAft>
            </a:pPr>
            <a:r>
              <a:rPr sz="1300" b="1" i="0">
                <a:solidFill>
                  <a:srgbClr val="0D9488"/>
                </a:solidFill>
                <a:latin typeface="Calibri"/>
              </a:rPr>
              <a:t>NỘI DUNG TRÌNH BÀY</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spcAft>
                <a:spcPts val="400"/>
              </a:spcAft>
            </a:pPr>
            <a:r>
              <a:rPr sz="3000" b="1" i="0">
                <a:solidFill>
                  <a:srgbClr val="1E293B"/>
                </a:solidFill>
                <a:latin typeface="Calibri"/>
              </a:rPr>
              <a:t>Nội dung báo cáo</a:t>
            </a:r>
          </a:p>
        </p:txBody>
      </p:sp>
      <p:sp>
        <p:nvSpPr>
          <p:cNvPr id="4" name="Rounded Rectangle 3"/>
          <p:cNvSpPr/>
          <p:nvPr/>
        </p:nvSpPr>
        <p:spPr>
          <a:xfrm>
            <a:off x="640080" y="2103120"/>
            <a:ext cx="5486400" cy="12344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96112" y="2359152"/>
            <a:ext cx="384048" cy="38404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6" name="TextBox 5"/>
          <p:cNvSpPr txBox="1"/>
          <p:nvPr/>
        </p:nvSpPr>
        <p:spPr>
          <a:xfrm>
            <a:off x="1508760" y="2304288"/>
            <a:ext cx="4480560" cy="457200"/>
          </a:xfrm>
          <a:prstGeom prst="rect">
            <a:avLst/>
          </a:prstGeom>
          <a:noFill/>
        </p:spPr>
        <p:txBody>
          <a:bodyPr wrap="square" anchor="t" lIns="0" rIns="0" tIns="0" bIns="0">
            <a:spAutoFit/>
          </a:bodyPr>
          <a:lstStyle/>
          <a:p>
            <a:pPr algn="l">
              <a:spcAft>
                <a:spcPts val="400"/>
              </a:spcAft>
            </a:pPr>
            <a:r>
              <a:rPr sz="1600" b="1" i="0">
                <a:solidFill>
                  <a:srgbClr val="1E293B"/>
                </a:solidFill>
                <a:latin typeface="Calibri"/>
              </a:rPr>
              <a:t>Bối cảnh &amp; Bài toán</a:t>
            </a:r>
          </a:p>
        </p:txBody>
      </p:sp>
      <p:sp>
        <p:nvSpPr>
          <p:cNvPr id="7" name="TextBox 6"/>
          <p:cNvSpPr txBox="1"/>
          <p:nvPr/>
        </p:nvSpPr>
        <p:spPr>
          <a:xfrm>
            <a:off x="1508760" y="2743200"/>
            <a:ext cx="4480560" cy="548640"/>
          </a:xfrm>
          <a:prstGeom prst="rect">
            <a:avLst/>
          </a:prstGeom>
          <a:noFill/>
        </p:spPr>
        <p:txBody>
          <a:bodyPr wrap="square" anchor="t" lIns="0" rIns="0" tIns="0" bIns="0">
            <a:spAutoFit/>
          </a:bodyPr>
          <a:lstStyle/>
          <a:p>
            <a:pPr algn="l">
              <a:spcAft>
                <a:spcPts val="400"/>
              </a:spcAft>
            </a:pPr>
            <a:r>
              <a:rPr sz="1200" b="0" i="0">
                <a:solidFill>
                  <a:srgbClr val="64748B"/>
                </a:solidFill>
                <a:latin typeface="Calibri"/>
              </a:rPr>
              <a:t>Hiện trạng triển khai thủ công và các hạn chế</a:t>
            </a:r>
          </a:p>
        </p:txBody>
      </p:sp>
      <p:sp>
        <p:nvSpPr>
          <p:cNvPr id="8" name="Rounded Rectangle 7"/>
          <p:cNvSpPr/>
          <p:nvPr/>
        </p:nvSpPr>
        <p:spPr>
          <a:xfrm>
            <a:off x="6428232" y="2103120"/>
            <a:ext cx="5486400" cy="12344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684264" y="2359152"/>
            <a:ext cx="384048" cy="38404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0" name="TextBox 9"/>
          <p:cNvSpPr txBox="1"/>
          <p:nvPr/>
        </p:nvSpPr>
        <p:spPr>
          <a:xfrm>
            <a:off x="7296912" y="2304288"/>
            <a:ext cx="4480560" cy="457200"/>
          </a:xfrm>
          <a:prstGeom prst="rect">
            <a:avLst/>
          </a:prstGeom>
          <a:noFill/>
        </p:spPr>
        <p:txBody>
          <a:bodyPr wrap="square" anchor="t" lIns="0" rIns="0" tIns="0" bIns="0">
            <a:spAutoFit/>
          </a:bodyPr>
          <a:lstStyle/>
          <a:p>
            <a:pPr algn="l">
              <a:spcAft>
                <a:spcPts val="400"/>
              </a:spcAft>
            </a:pPr>
            <a:r>
              <a:rPr sz="1600" b="1" i="0">
                <a:solidFill>
                  <a:srgbClr val="1E293B"/>
                </a:solidFill>
                <a:latin typeface="Calibri"/>
              </a:rPr>
              <a:t>Mục tiêu &amp; Phạm vi</a:t>
            </a:r>
          </a:p>
        </p:txBody>
      </p:sp>
      <p:sp>
        <p:nvSpPr>
          <p:cNvPr id="11" name="TextBox 10"/>
          <p:cNvSpPr txBox="1"/>
          <p:nvPr/>
        </p:nvSpPr>
        <p:spPr>
          <a:xfrm>
            <a:off x="7296912" y="2743200"/>
            <a:ext cx="4480560" cy="548640"/>
          </a:xfrm>
          <a:prstGeom prst="rect">
            <a:avLst/>
          </a:prstGeom>
          <a:noFill/>
        </p:spPr>
        <p:txBody>
          <a:bodyPr wrap="square" anchor="t" lIns="0" rIns="0" tIns="0" bIns="0">
            <a:spAutoFit/>
          </a:bodyPr>
          <a:lstStyle/>
          <a:p>
            <a:pPr algn="l">
              <a:spcAft>
                <a:spcPts val="400"/>
              </a:spcAft>
            </a:pPr>
            <a:r>
              <a:rPr sz="1200" b="0" i="0">
                <a:solidFill>
                  <a:srgbClr val="64748B"/>
                </a:solidFill>
                <a:latin typeface="Calibri"/>
              </a:rPr>
              <a:t>Định hướng và giới hạn của đề tài</a:t>
            </a:r>
          </a:p>
        </p:txBody>
      </p:sp>
      <p:sp>
        <p:nvSpPr>
          <p:cNvPr id="12" name="Rounded Rectangle 11"/>
          <p:cNvSpPr/>
          <p:nvPr/>
        </p:nvSpPr>
        <p:spPr>
          <a:xfrm>
            <a:off x="640080" y="3566160"/>
            <a:ext cx="5486400" cy="12344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6112" y="3822191"/>
            <a:ext cx="384048" cy="38404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4" name="TextBox 13"/>
          <p:cNvSpPr txBox="1"/>
          <p:nvPr/>
        </p:nvSpPr>
        <p:spPr>
          <a:xfrm>
            <a:off x="1508760" y="3767328"/>
            <a:ext cx="4480560" cy="457200"/>
          </a:xfrm>
          <a:prstGeom prst="rect">
            <a:avLst/>
          </a:prstGeom>
          <a:noFill/>
        </p:spPr>
        <p:txBody>
          <a:bodyPr wrap="square" anchor="t" lIns="0" rIns="0" tIns="0" bIns="0">
            <a:spAutoFit/>
          </a:bodyPr>
          <a:lstStyle/>
          <a:p>
            <a:pPr algn="l">
              <a:spcAft>
                <a:spcPts val="400"/>
              </a:spcAft>
            </a:pPr>
            <a:r>
              <a:rPr sz="1600" b="1" i="0">
                <a:solidFill>
                  <a:srgbClr val="1E293B"/>
                </a:solidFill>
                <a:latin typeface="Calibri"/>
              </a:rPr>
              <a:t>Cơ sở lý thuyết</a:t>
            </a:r>
          </a:p>
        </p:txBody>
      </p:sp>
      <p:sp>
        <p:nvSpPr>
          <p:cNvPr id="15" name="TextBox 14"/>
          <p:cNvSpPr txBox="1"/>
          <p:nvPr/>
        </p:nvSpPr>
        <p:spPr>
          <a:xfrm>
            <a:off x="1508760" y="4206240"/>
            <a:ext cx="4480560" cy="548640"/>
          </a:xfrm>
          <a:prstGeom prst="rect">
            <a:avLst/>
          </a:prstGeom>
          <a:noFill/>
        </p:spPr>
        <p:txBody>
          <a:bodyPr wrap="square" anchor="t" lIns="0" rIns="0" tIns="0" bIns="0">
            <a:spAutoFit/>
          </a:bodyPr>
          <a:lstStyle/>
          <a:p>
            <a:pPr algn="l">
              <a:spcAft>
                <a:spcPts val="400"/>
              </a:spcAft>
            </a:pPr>
            <a:r>
              <a:rPr sz="1200" b="0" i="0">
                <a:solidFill>
                  <a:srgbClr val="64748B"/>
                </a:solidFill>
                <a:latin typeface="Calibri"/>
              </a:rPr>
              <a:t>DevOps, CI/CD, GitOps, Kubernetes, DORA</a:t>
            </a:r>
          </a:p>
        </p:txBody>
      </p:sp>
      <p:sp>
        <p:nvSpPr>
          <p:cNvPr id="16" name="Rounded Rectangle 15"/>
          <p:cNvSpPr/>
          <p:nvPr/>
        </p:nvSpPr>
        <p:spPr>
          <a:xfrm>
            <a:off x="6428232" y="3566160"/>
            <a:ext cx="5486400" cy="12344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684264" y="3822191"/>
            <a:ext cx="384048" cy="38404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8" name="TextBox 17"/>
          <p:cNvSpPr txBox="1"/>
          <p:nvPr/>
        </p:nvSpPr>
        <p:spPr>
          <a:xfrm>
            <a:off x="7296912" y="3767328"/>
            <a:ext cx="4480560" cy="457200"/>
          </a:xfrm>
          <a:prstGeom prst="rect">
            <a:avLst/>
          </a:prstGeom>
          <a:noFill/>
        </p:spPr>
        <p:txBody>
          <a:bodyPr wrap="square" anchor="t" lIns="0" rIns="0" tIns="0" bIns="0">
            <a:spAutoFit/>
          </a:bodyPr>
          <a:lstStyle/>
          <a:p>
            <a:pPr algn="l">
              <a:spcAft>
                <a:spcPts val="400"/>
              </a:spcAft>
            </a:pPr>
            <a:r>
              <a:rPr sz="1600" b="1" i="0">
                <a:solidFill>
                  <a:srgbClr val="1E293B"/>
                </a:solidFill>
                <a:latin typeface="Calibri"/>
              </a:rPr>
              <a:t>Thiết kế hệ thống</a:t>
            </a:r>
          </a:p>
        </p:txBody>
      </p:sp>
      <p:sp>
        <p:nvSpPr>
          <p:cNvPr id="19" name="TextBox 18"/>
          <p:cNvSpPr txBox="1"/>
          <p:nvPr/>
        </p:nvSpPr>
        <p:spPr>
          <a:xfrm>
            <a:off x="7296912" y="4206240"/>
            <a:ext cx="4480560" cy="548640"/>
          </a:xfrm>
          <a:prstGeom prst="rect">
            <a:avLst/>
          </a:prstGeom>
          <a:noFill/>
        </p:spPr>
        <p:txBody>
          <a:bodyPr wrap="square" anchor="t" lIns="0" rIns="0" tIns="0" bIns="0">
            <a:spAutoFit/>
          </a:bodyPr>
          <a:lstStyle/>
          <a:p>
            <a:pPr algn="l">
              <a:spcAft>
                <a:spcPts val="400"/>
              </a:spcAft>
            </a:pPr>
            <a:r>
              <a:rPr sz="1200" b="0" i="0">
                <a:solidFill>
                  <a:srgbClr val="64748B"/>
                </a:solidFill>
                <a:latin typeface="Calibri"/>
              </a:rPr>
              <a:t>Kiến trúc tổng thể và phân vùng bảo mật</a:t>
            </a:r>
          </a:p>
        </p:txBody>
      </p:sp>
      <p:sp>
        <p:nvSpPr>
          <p:cNvPr id="20" name="Rounded Rectangle 19"/>
          <p:cNvSpPr/>
          <p:nvPr/>
        </p:nvSpPr>
        <p:spPr>
          <a:xfrm>
            <a:off x="640080" y="5029200"/>
            <a:ext cx="5486400" cy="12344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96112" y="5285232"/>
            <a:ext cx="384048" cy="38404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22" name="TextBox 21"/>
          <p:cNvSpPr txBox="1"/>
          <p:nvPr/>
        </p:nvSpPr>
        <p:spPr>
          <a:xfrm>
            <a:off x="1508760" y="5230368"/>
            <a:ext cx="4480560" cy="457200"/>
          </a:xfrm>
          <a:prstGeom prst="rect">
            <a:avLst/>
          </a:prstGeom>
          <a:noFill/>
        </p:spPr>
        <p:txBody>
          <a:bodyPr wrap="square" anchor="t" lIns="0" rIns="0" tIns="0" bIns="0">
            <a:spAutoFit/>
          </a:bodyPr>
          <a:lstStyle/>
          <a:p>
            <a:pPr algn="l">
              <a:spcAft>
                <a:spcPts val="400"/>
              </a:spcAft>
            </a:pPr>
            <a:r>
              <a:rPr sz="1600" b="1" i="0">
                <a:solidFill>
                  <a:srgbClr val="1E293B"/>
                </a:solidFill>
                <a:latin typeface="Calibri"/>
              </a:rPr>
              <a:t>Triển khai</a:t>
            </a:r>
          </a:p>
        </p:txBody>
      </p:sp>
      <p:sp>
        <p:nvSpPr>
          <p:cNvPr id="23" name="TextBox 22"/>
          <p:cNvSpPr txBox="1"/>
          <p:nvPr/>
        </p:nvSpPr>
        <p:spPr>
          <a:xfrm>
            <a:off x="1508760" y="5669280"/>
            <a:ext cx="4480560" cy="548640"/>
          </a:xfrm>
          <a:prstGeom prst="rect">
            <a:avLst/>
          </a:prstGeom>
          <a:noFill/>
        </p:spPr>
        <p:txBody>
          <a:bodyPr wrap="square" anchor="t" lIns="0" rIns="0" tIns="0" bIns="0">
            <a:spAutoFit/>
          </a:bodyPr>
          <a:lstStyle/>
          <a:p>
            <a:pPr algn="l">
              <a:spcAft>
                <a:spcPts val="400"/>
              </a:spcAft>
            </a:pPr>
            <a:r>
              <a:rPr sz="1200" b="0" i="0">
                <a:solidFill>
                  <a:srgbClr val="64748B"/>
                </a:solidFill>
                <a:latin typeface="Calibri"/>
              </a:rPr>
              <a:t>Chuỗi công cụ CI/CD, GitOps và giám sát</a:t>
            </a:r>
          </a:p>
        </p:txBody>
      </p:sp>
      <p:sp>
        <p:nvSpPr>
          <p:cNvPr id="24" name="Rounded Rectangle 23"/>
          <p:cNvSpPr/>
          <p:nvPr/>
        </p:nvSpPr>
        <p:spPr>
          <a:xfrm>
            <a:off x="6428232" y="5029200"/>
            <a:ext cx="5486400" cy="12344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684264" y="5285232"/>
            <a:ext cx="384048" cy="38404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26" name="TextBox 25"/>
          <p:cNvSpPr txBox="1"/>
          <p:nvPr/>
        </p:nvSpPr>
        <p:spPr>
          <a:xfrm>
            <a:off x="7296912" y="5230368"/>
            <a:ext cx="4480560" cy="457200"/>
          </a:xfrm>
          <a:prstGeom prst="rect">
            <a:avLst/>
          </a:prstGeom>
          <a:noFill/>
        </p:spPr>
        <p:txBody>
          <a:bodyPr wrap="square" anchor="t" lIns="0" rIns="0" tIns="0" bIns="0">
            <a:spAutoFit/>
          </a:bodyPr>
          <a:lstStyle/>
          <a:p>
            <a:pPr algn="l">
              <a:spcAft>
                <a:spcPts val="400"/>
              </a:spcAft>
            </a:pPr>
            <a:r>
              <a:rPr sz="1600" b="1" i="0">
                <a:solidFill>
                  <a:srgbClr val="1E293B"/>
                </a:solidFill>
                <a:latin typeface="Calibri"/>
              </a:rPr>
              <a:t>Demo &amp; Đánh giá</a:t>
            </a:r>
          </a:p>
        </p:txBody>
      </p:sp>
      <p:sp>
        <p:nvSpPr>
          <p:cNvPr id="27" name="TextBox 26"/>
          <p:cNvSpPr txBox="1"/>
          <p:nvPr/>
        </p:nvSpPr>
        <p:spPr>
          <a:xfrm>
            <a:off x="7296912" y="5669280"/>
            <a:ext cx="4480560" cy="548640"/>
          </a:xfrm>
          <a:prstGeom prst="rect">
            <a:avLst/>
          </a:prstGeom>
          <a:noFill/>
        </p:spPr>
        <p:txBody>
          <a:bodyPr wrap="square" anchor="t" lIns="0" rIns="0" tIns="0" bIns="0">
            <a:spAutoFit/>
          </a:bodyPr>
          <a:lstStyle/>
          <a:p>
            <a:pPr algn="l">
              <a:spcAft>
                <a:spcPts val="400"/>
              </a:spcAft>
            </a:pPr>
            <a:r>
              <a:rPr sz="1200" b="0" i="0">
                <a:solidFill>
                  <a:srgbClr val="64748B"/>
                </a:solidFill>
                <a:latin typeface="Calibri"/>
              </a:rPr>
              <a:t>Kịch bản end-to-end, rollback và chỉ số DORA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640080" y="457200"/>
            <a:ext cx="8229600" cy="365760"/>
          </a:xfrm>
          <a:prstGeom prst="rect">
            <a:avLst/>
          </a:prstGeom>
          <a:noFill/>
        </p:spPr>
        <p:txBody>
          <a:bodyPr wrap="square" anchor="t" lIns="0" rIns="0" tIns="0" bIns="0">
            <a:spAutoFit/>
          </a:bodyPr>
          <a:lstStyle/>
          <a:p>
            <a:pPr algn="l">
              <a:spcAft>
                <a:spcPts val="400"/>
              </a:spcAft>
            </a:pPr>
            <a:r>
              <a:rPr sz="1300" b="1" i="0">
                <a:solidFill>
                  <a:srgbClr val="0D9488"/>
                </a:solidFill>
                <a:latin typeface="Calibri"/>
              </a:rPr>
              <a:t>PHẦN 1 — TỔNG QUAN</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spcAft>
                <a:spcPts val="400"/>
              </a:spcAft>
            </a:pPr>
            <a:r>
              <a:rPr sz="3000" b="1" i="0">
                <a:solidFill>
                  <a:srgbClr val="1E293B"/>
                </a:solidFill>
                <a:latin typeface="Calibri"/>
              </a:rPr>
              <a:t>Bối cảnh &amp; Bài toán đặt ra</a:t>
            </a:r>
          </a:p>
        </p:txBody>
      </p:sp>
      <p:sp>
        <p:nvSpPr>
          <p:cNvPr id="4" name="TextBox 3"/>
          <p:cNvSpPr txBox="1"/>
          <p:nvPr/>
        </p:nvSpPr>
        <p:spPr>
          <a:xfrm>
            <a:off x="640080" y="1965960"/>
            <a:ext cx="10972800" cy="822960"/>
          </a:xfrm>
          <a:prstGeom prst="rect">
            <a:avLst/>
          </a:prstGeom>
          <a:noFill/>
        </p:spPr>
        <p:txBody>
          <a:bodyPr wrap="square" anchor="t" lIns="0" rIns="0" tIns="0" bIns="0">
            <a:spAutoFit/>
          </a:bodyPr>
          <a:lstStyle/>
          <a:p>
            <a:pPr algn="l">
              <a:lnSpc>
                <a:spcPct val="110000"/>
              </a:lnSpc>
              <a:spcAft>
                <a:spcPts val="400"/>
              </a:spcAft>
            </a:pPr>
            <a:r>
              <a:rPr sz="1500" b="1" i="0">
                <a:solidFill>
                  <a:srgbClr val="0D9488"/>
                </a:solidFill>
                <a:latin typeface="Calibri"/>
              </a:rPr>
              <a:t>Hiện trạng: </a:t>
            </a:r>
            <a:r>
              <a:rPr sz="1400" b="0" i="0">
                <a:solidFill>
                  <a:srgbClr val="1E293B"/>
                </a:solidFill>
                <a:latin typeface="Calibri"/>
              </a:rPr>
              <a:t>triển khai thủ công — lập trình viên push code, người vận hành đăng nhập máy chủ, pull code và chạy các bước triển khai bằng tay; log phân tán trên từng máy chủ.</a:t>
            </a:r>
          </a:p>
        </p:txBody>
      </p:sp>
      <p:sp>
        <p:nvSpPr>
          <p:cNvPr id="5" name="Rounded Rectangle 4"/>
          <p:cNvSpPr/>
          <p:nvPr/>
        </p:nvSpPr>
        <p:spPr>
          <a:xfrm>
            <a:off x="640080" y="2971800"/>
            <a:ext cx="3529584" cy="1600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3200400"/>
            <a:ext cx="146304" cy="146304"/>
          </a:xfrm>
          <a:prstGeom prst="ellipse">
            <a:avLst/>
          </a:prstGeom>
          <a:solidFill>
            <a:srgbClr val="E14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3154680"/>
            <a:ext cx="2889504" cy="548640"/>
          </a:xfrm>
          <a:prstGeom prst="rect">
            <a:avLst/>
          </a:prstGeom>
          <a:noFill/>
        </p:spPr>
        <p:txBody>
          <a:bodyPr wrap="square" anchor="t" lIns="0" rIns="0" tIns="0" bIns="0">
            <a:spAutoFit/>
          </a:bodyPr>
          <a:lstStyle/>
          <a:p>
            <a:pPr algn="l">
              <a:spcAft>
                <a:spcPts val="400"/>
              </a:spcAft>
            </a:pPr>
            <a:r>
              <a:rPr sz="1450" b="1" i="0">
                <a:solidFill>
                  <a:srgbClr val="1E293B"/>
                </a:solidFill>
                <a:latin typeface="Calibri"/>
              </a:rPr>
              <a:t>Triển khai chậm, dễ sai</a:t>
            </a:r>
          </a:p>
        </p:txBody>
      </p:sp>
      <p:sp>
        <p:nvSpPr>
          <p:cNvPr id="8" name="TextBox 7"/>
          <p:cNvSpPr txBox="1"/>
          <p:nvPr/>
        </p:nvSpPr>
        <p:spPr>
          <a:xfrm>
            <a:off x="914400" y="3685032"/>
            <a:ext cx="3026663" cy="777240"/>
          </a:xfrm>
          <a:prstGeom prst="rect">
            <a:avLst/>
          </a:prstGeom>
          <a:noFill/>
        </p:spPr>
        <p:txBody>
          <a:bodyPr wrap="square" anchor="t" lIns="0" rIns="0" tIns="0" bIns="0">
            <a:spAutoFit/>
          </a:bodyPr>
          <a:lstStyle/>
          <a:p>
            <a:pPr algn="l">
              <a:lnSpc>
                <a:spcPct val="105000"/>
              </a:lnSpc>
              <a:spcAft>
                <a:spcPts val="400"/>
              </a:spcAft>
            </a:pPr>
            <a:r>
              <a:rPr sz="1200" b="0" i="0">
                <a:solidFill>
                  <a:srgbClr val="64748B"/>
                </a:solidFill>
                <a:latin typeface="Calibri"/>
              </a:rPr>
              <a:t>Nhiều bước thủ công, khó tái lập, khó kiểm toán</a:t>
            </a:r>
          </a:p>
        </p:txBody>
      </p:sp>
      <p:sp>
        <p:nvSpPr>
          <p:cNvPr id="9" name="Rounded Rectangle 8"/>
          <p:cNvSpPr/>
          <p:nvPr/>
        </p:nvSpPr>
        <p:spPr>
          <a:xfrm>
            <a:off x="4334256" y="2971800"/>
            <a:ext cx="3529584" cy="1600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62856" y="3200400"/>
            <a:ext cx="146304" cy="146304"/>
          </a:xfrm>
          <a:prstGeom prst="ellipse">
            <a:avLst/>
          </a:prstGeom>
          <a:solidFill>
            <a:srgbClr val="E14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37176" y="3154680"/>
            <a:ext cx="2889504" cy="548640"/>
          </a:xfrm>
          <a:prstGeom prst="rect">
            <a:avLst/>
          </a:prstGeom>
          <a:noFill/>
        </p:spPr>
        <p:txBody>
          <a:bodyPr wrap="square" anchor="t" lIns="0" rIns="0" tIns="0" bIns="0">
            <a:spAutoFit/>
          </a:bodyPr>
          <a:lstStyle/>
          <a:p>
            <a:pPr algn="l">
              <a:spcAft>
                <a:spcPts val="400"/>
              </a:spcAft>
            </a:pPr>
            <a:r>
              <a:rPr sz="1450" b="1" i="0">
                <a:solidFill>
                  <a:srgbClr val="1E293B"/>
                </a:solidFill>
                <a:latin typeface="Calibri"/>
              </a:rPr>
              <a:t>Rollback chậm</a:t>
            </a:r>
          </a:p>
        </p:txBody>
      </p:sp>
      <p:sp>
        <p:nvSpPr>
          <p:cNvPr id="12" name="TextBox 11"/>
          <p:cNvSpPr txBox="1"/>
          <p:nvPr/>
        </p:nvSpPr>
        <p:spPr>
          <a:xfrm>
            <a:off x="4608576" y="3685032"/>
            <a:ext cx="3026663" cy="777240"/>
          </a:xfrm>
          <a:prstGeom prst="rect">
            <a:avLst/>
          </a:prstGeom>
          <a:noFill/>
        </p:spPr>
        <p:txBody>
          <a:bodyPr wrap="square" anchor="t" lIns="0" rIns="0" tIns="0" bIns="0">
            <a:spAutoFit/>
          </a:bodyPr>
          <a:lstStyle/>
          <a:p>
            <a:pPr algn="l">
              <a:lnSpc>
                <a:spcPct val="105000"/>
              </a:lnSpc>
              <a:spcAft>
                <a:spcPts val="400"/>
              </a:spcAft>
            </a:pPr>
            <a:r>
              <a:rPr sz="1200" b="0" i="0">
                <a:solidFill>
                  <a:srgbClr val="64748B"/>
                </a:solidFill>
                <a:latin typeface="Calibri"/>
              </a:rPr>
              <a:t>Khôi phục thủ công kéo dài gián đoạn, tăng MTTR</a:t>
            </a:r>
          </a:p>
        </p:txBody>
      </p:sp>
      <p:sp>
        <p:nvSpPr>
          <p:cNvPr id="13" name="Rounded Rectangle 12"/>
          <p:cNvSpPr/>
          <p:nvPr/>
        </p:nvSpPr>
        <p:spPr>
          <a:xfrm>
            <a:off x="8028431" y="2971800"/>
            <a:ext cx="3529584" cy="1600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57031" y="3200400"/>
            <a:ext cx="146304" cy="146304"/>
          </a:xfrm>
          <a:prstGeom prst="ellipse">
            <a:avLst/>
          </a:prstGeom>
          <a:solidFill>
            <a:srgbClr val="E14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31352" y="3154680"/>
            <a:ext cx="2889504" cy="548640"/>
          </a:xfrm>
          <a:prstGeom prst="rect">
            <a:avLst/>
          </a:prstGeom>
          <a:noFill/>
        </p:spPr>
        <p:txBody>
          <a:bodyPr wrap="square" anchor="t" lIns="0" rIns="0" tIns="0" bIns="0">
            <a:spAutoFit/>
          </a:bodyPr>
          <a:lstStyle/>
          <a:p>
            <a:pPr algn="l">
              <a:spcAft>
                <a:spcPts val="400"/>
              </a:spcAft>
            </a:pPr>
            <a:r>
              <a:rPr sz="1450" b="1" i="0">
                <a:solidFill>
                  <a:srgbClr val="1E293B"/>
                </a:solidFill>
                <a:latin typeface="Calibri"/>
              </a:rPr>
              <a:t>Khó truy vết sự cố</a:t>
            </a:r>
          </a:p>
        </p:txBody>
      </p:sp>
      <p:sp>
        <p:nvSpPr>
          <p:cNvPr id="16" name="TextBox 15"/>
          <p:cNvSpPr txBox="1"/>
          <p:nvPr/>
        </p:nvSpPr>
        <p:spPr>
          <a:xfrm>
            <a:off x="8302752" y="3685032"/>
            <a:ext cx="3026663" cy="777240"/>
          </a:xfrm>
          <a:prstGeom prst="rect">
            <a:avLst/>
          </a:prstGeom>
          <a:noFill/>
        </p:spPr>
        <p:txBody>
          <a:bodyPr wrap="square" anchor="t" lIns="0" rIns="0" tIns="0" bIns="0">
            <a:spAutoFit/>
          </a:bodyPr>
          <a:lstStyle/>
          <a:p>
            <a:pPr algn="l">
              <a:lnSpc>
                <a:spcPct val="105000"/>
              </a:lnSpc>
              <a:spcAft>
                <a:spcPts val="400"/>
              </a:spcAft>
            </a:pPr>
            <a:r>
              <a:rPr sz="1200" b="0" i="0">
                <a:solidFill>
                  <a:srgbClr val="64748B"/>
                </a:solidFill>
                <a:latin typeface="Calibri"/>
              </a:rPr>
              <a:t>Log phân tán, thiếu metrics, phụ thuộc cá nhân</a:t>
            </a:r>
          </a:p>
        </p:txBody>
      </p:sp>
      <p:sp>
        <p:nvSpPr>
          <p:cNvPr id="17" name="Rounded Rectangle 16"/>
          <p:cNvSpPr/>
          <p:nvPr/>
        </p:nvSpPr>
        <p:spPr>
          <a:xfrm>
            <a:off x="2487168" y="4773168"/>
            <a:ext cx="3529584" cy="1600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715768" y="5001768"/>
            <a:ext cx="146304" cy="146304"/>
          </a:xfrm>
          <a:prstGeom prst="ellipse">
            <a:avLst/>
          </a:prstGeom>
          <a:solidFill>
            <a:srgbClr val="E14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90087" y="4956048"/>
            <a:ext cx="2889504" cy="548640"/>
          </a:xfrm>
          <a:prstGeom prst="rect">
            <a:avLst/>
          </a:prstGeom>
          <a:noFill/>
        </p:spPr>
        <p:txBody>
          <a:bodyPr wrap="square" anchor="t" lIns="0" rIns="0" tIns="0" bIns="0">
            <a:spAutoFit/>
          </a:bodyPr>
          <a:lstStyle/>
          <a:p>
            <a:pPr algn="l">
              <a:spcAft>
                <a:spcPts val="400"/>
              </a:spcAft>
            </a:pPr>
            <a:r>
              <a:rPr sz="1450" b="1" i="0">
                <a:solidFill>
                  <a:srgbClr val="1E293B"/>
                </a:solidFill>
                <a:latin typeface="Calibri"/>
              </a:rPr>
              <a:t>Thiếu kiểm soát chất lượng</a:t>
            </a:r>
          </a:p>
        </p:txBody>
      </p:sp>
      <p:sp>
        <p:nvSpPr>
          <p:cNvPr id="20" name="TextBox 19"/>
          <p:cNvSpPr txBox="1"/>
          <p:nvPr/>
        </p:nvSpPr>
        <p:spPr>
          <a:xfrm>
            <a:off x="2761487" y="5486400"/>
            <a:ext cx="3026663" cy="777240"/>
          </a:xfrm>
          <a:prstGeom prst="rect">
            <a:avLst/>
          </a:prstGeom>
          <a:noFill/>
        </p:spPr>
        <p:txBody>
          <a:bodyPr wrap="square" anchor="t" lIns="0" rIns="0" tIns="0" bIns="0">
            <a:spAutoFit/>
          </a:bodyPr>
          <a:lstStyle/>
          <a:p>
            <a:pPr algn="l">
              <a:lnSpc>
                <a:spcPct val="105000"/>
              </a:lnSpc>
              <a:spcAft>
                <a:spcPts val="400"/>
              </a:spcAft>
            </a:pPr>
            <a:r>
              <a:rPr sz="1200" b="0" i="0">
                <a:solidFill>
                  <a:srgbClr val="64748B"/>
                </a:solidFill>
                <a:latin typeface="Calibri"/>
              </a:rPr>
              <a:t>Không có build/test/quét bảo mật tự động</a:t>
            </a:r>
          </a:p>
        </p:txBody>
      </p:sp>
      <p:sp>
        <p:nvSpPr>
          <p:cNvPr id="21" name="Rounded Rectangle 20"/>
          <p:cNvSpPr/>
          <p:nvPr/>
        </p:nvSpPr>
        <p:spPr>
          <a:xfrm>
            <a:off x="6181344" y="4773168"/>
            <a:ext cx="3529584" cy="1600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09944" y="5001768"/>
            <a:ext cx="146304" cy="146304"/>
          </a:xfrm>
          <a:prstGeom prst="ellipse">
            <a:avLst/>
          </a:prstGeom>
          <a:solidFill>
            <a:srgbClr val="E14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84264" y="4956048"/>
            <a:ext cx="2889504" cy="548640"/>
          </a:xfrm>
          <a:prstGeom prst="rect">
            <a:avLst/>
          </a:prstGeom>
          <a:noFill/>
        </p:spPr>
        <p:txBody>
          <a:bodyPr wrap="square" anchor="t" lIns="0" rIns="0" tIns="0" bIns="0">
            <a:spAutoFit/>
          </a:bodyPr>
          <a:lstStyle/>
          <a:p>
            <a:pPr algn="l">
              <a:spcAft>
                <a:spcPts val="400"/>
              </a:spcAft>
            </a:pPr>
            <a:r>
              <a:rPr sz="1450" b="1" i="0">
                <a:solidFill>
                  <a:srgbClr val="1E293B"/>
                </a:solidFill>
                <a:latin typeface="Calibri"/>
              </a:rPr>
              <a:t>Rủi ro an toàn quản trị</a:t>
            </a:r>
          </a:p>
        </p:txBody>
      </p:sp>
      <p:sp>
        <p:nvSpPr>
          <p:cNvPr id="24" name="TextBox 23"/>
          <p:cNvSpPr txBox="1"/>
          <p:nvPr/>
        </p:nvSpPr>
        <p:spPr>
          <a:xfrm>
            <a:off x="6455664" y="5486400"/>
            <a:ext cx="3026663" cy="777240"/>
          </a:xfrm>
          <a:prstGeom prst="rect">
            <a:avLst/>
          </a:prstGeom>
          <a:noFill/>
        </p:spPr>
        <p:txBody>
          <a:bodyPr wrap="square" anchor="t" lIns="0" rIns="0" tIns="0" bIns="0">
            <a:spAutoFit/>
          </a:bodyPr>
          <a:lstStyle/>
          <a:p>
            <a:pPr algn="l">
              <a:lnSpc>
                <a:spcPct val="105000"/>
              </a:lnSpc>
              <a:spcAft>
                <a:spcPts val="400"/>
              </a:spcAft>
            </a:pPr>
            <a:r>
              <a:rPr sz="1200" b="0" i="0">
                <a:solidFill>
                  <a:srgbClr val="64748B"/>
                </a:solidFill>
                <a:latin typeface="Calibri"/>
              </a:rPr>
              <a:t>Nhiều người truy cập trực tiếp máy chủ sản xuất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640080" y="457200"/>
            <a:ext cx="8229600" cy="365760"/>
          </a:xfrm>
          <a:prstGeom prst="rect">
            <a:avLst/>
          </a:prstGeom>
          <a:noFill/>
        </p:spPr>
        <p:txBody>
          <a:bodyPr wrap="square" anchor="t" lIns="0" rIns="0" tIns="0" bIns="0">
            <a:spAutoFit/>
          </a:bodyPr>
          <a:lstStyle/>
          <a:p>
            <a:pPr algn="l">
              <a:spcAft>
                <a:spcPts val="400"/>
              </a:spcAft>
            </a:pPr>
            <a:r>
              <a:rPr sz="1300" b="1" i="0">
                <a:solidFill>
                  <a:srgbClr val="0D9488"/>
                </a:solidFill>
                <a:latin typeface="Calibri"/>
              </a:rPr>
              <a:t>PHẦN 1 — TỔNG QUAN</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spcAft>
                <a:spcPts val="400"/>
              </a:spcAft>
            </a:pPr>
            <a:r>
              <a:rPr sz="3000" b="1" i="0">
                <a:solidFill>
                  <a:srgbClr val="1E293B"/>
                </a:solidFill>
                <a:latin typeface="Calibri"/>
              </a:rPr>
              <a:t>Mục tiêu &amp; Phạm vi</a:t>
            </a:r>
          </a:p>
        </p:txBody>
      </p:sp>
      <p:sp>
        <p:nvSpPr>
          <p:cNvPr id="4" name="Rounded Rectangle 3"/>
          <p:cNvSpPr/>
          <p:nvPr/>
        </p:nvSpPr>
        <p:spPr>
          <a:xfrm>
            <a:off x="640080" y="2011680"/>
            <a:ext cx="5486400" cy="4206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40280"/>
            <a:ext cx="5029200" cy="457200"/>
          </a:xfrm>
          <a:prstGeom prst="rect">
            <a:avLst/>
          </a:prstGeom>
          <a:noFill/>
        </p:spPr>
        <p:txBody>
          <a:bodyPr wrap="square" anchor="t" lIns="0" rIns="0" tIns="0" bIns="0">
            <a:spAutoFit/>
          </a:bodyPr>
          <a:lstStyle/>
          <a:p>
            <a:pPr algn="l">
              <a:spcAft>
                <a:spcPts val="400"/>
              </a:spcAft>
            </a:pPr>
            <a:r>
              <a:rPr sz="1600" b="1" i="0">
                <a:solidFill>
                  <a:srgbClr val="0D9488"/>
                </a:solidFill>
                <a:latin typeface="Calibri"/>
              </a:rPr>
              <a:t>MỤC TIÊU</a:t>
            </a:r>
          </a:p>
        </p:txBody>
      </p:sp>
      <p:sp>
        <p:nvSpPr>
          <p:cNvPr id="6" name="Oval 5"/>
          <p:cNvSpPr/>
          <p:nvPr/>
        </p:nvSpPr>
        <p:spPr>
          <a:xfrm>
            <a:off x="914400" y="2862072"/>
            <a:ext cx="118872" cy="11887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432" y="2788920"/>
            <a:ext cx="4754880" cy="777240"/>
          </a:xfrm>
          <a:prstGeom prst="rect">
            <a:avLst/>
          </a:prstGeom>
          <a:noFill/>
        </p:spPr>
        <p:txBody>
          <a:bodyPr wrap="square" anchor="t" lIns="0" rIns="0" tIns="0" bIns="0">
            <a:spAutoFit/>
          </a:bodyPr>
          <a:lstStyle/>
          <a:p>
            <a:pPr algn="l">
              <a:lnSpc>
                <a:spcPct val="108000"/>
              </a:lnSpc>
              <a:spcAft>
                <a:spcPts val="400"/>
              </a:spcAft>
            </a:pPr>
            <a:r>
              <a:rPr sz="1350" b="0" i="0">
                <a:solidFill>
                  <a:srgbClr val="1E293B"/>
                </a:solidFill>
                <a:latin typeface="Calibri"/>
              </a:rPr>
              <a:t>Vận hành nền tảng CI/CD tự động trên Kubernetes theo mô hình GitOps với Argo CD</a:t>
            </a:r>
          </a:p>
        </p:txBody>
      </p:sp>
      <p:sp>
        <p:nvSpPr>
          <p:cNvPr id="8" name="Oval 7"/>
          <p:cNvSpPr/>
          <p:nvPr/>
        </p:nvSpPr>
        <p:spPr>
          <a:xfrm>
            <a:off x="914400" y="3685031"/>
            <a:ext cx="118872" cy="11887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0432" y="3611879"/>
            <a:ext cx="4754880" cy="777240"/>
          </a:xfrm>
          <a:prstGeom prst="rect">
            <a:avLst/>
          </a:prstGeom>
          <a:noFill/>
        </p:spPr>
        <p:txBody>
          <a:bodyPr wrap="square" anchor="t" lIns="0" rIns="0" tIns="0" bIns="0">
            <a:spAutoFit/>
          </a:bodyPr>
          <a:lstStyle/>
          <a:p>
            <a:pPr algn="l">
              <a:lnSpc>
                <a:spcPct val="108000"/>
              </a:lnSpc>
              <a:spcAft>
                <a:spcPts val="400"/>
              </a:spcAft>
            </a:pPr>
            <a:r>
              <a:rPr sz="1350" b="0" i="0">
                <a:solidFill>
                  <a:srgbClr val="1E293B"/>
                </a:solidFill>
                <a:latin typeface="Calibri"/>
              </a:rPr>
              <a:t>Tích hợp kiểm soát chất lượng (SonarQube) và registry nội bộ Harbor (kèm Trivy)</a:t>
            </a:r>
          </a:p>
        </p:txBody>
      </p:sp>
      <p:sp>
        <p:nvSpPr>
          <p:cNvPr id="10" name="Oval 9"/>
          <p:cNvSpPr/>
          <p:nvPr/>
        </p:nvSpPr>
        <p:spPr>
          <a:xfrm>
            <a:off x="914400" y="4507992"/>
            <a:ext cx="118872" cy="11887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0432" y="4434840"/>
            <a:ext cx="4754880" cy="777240"/>
          </a:xfrm>
          <a:prstGeom prst="rect">
            <a:avLst/>
          </a:prstGeom>
          <a:noFill/>
        </p:spPr>
        <p:txBody>
          <a:bodyPr wrap="square" anchor="t" lIns="0" rIns="0" tIns="0" bIns="0">
            <a:spAutoFit/>
          </a:bodyPr>
          <a:lstStyle/>
          <a:p>
            <a:pPr algn="l">
              <a:lnSpc>
                <a:spcPct val="108000"/>
              </a:lnSpc>
              <a:spcAft>
                <a:spcPts val="400"/>
              </a:spcAft>
            </a:pPr>
            <a:r>
              <a:rPr sz="1350" b="0" i="0">
                <a:solidFill>
                  <a:srgbClr val="1E293B"/>
                </a:solidFill>
                <a:latin typeface="Calibri"/>
              </a:rPr>
              <a:t>Giám sát tập trung: log qua Kafka–ELK, metrics qua Prometheus–Grafana, thông báo Telegram</a:t>
            </a:r>
          </a:p>
        </p:txBody>
      </p:sp>
      <p:sp>
        <p:nvSpPr>
          <p:cNvPr id="12" name="Oval 11"/>
          <p:cNvSpPr/>
          <p:nvPr/>
        </p:nvSpPr>
        <p:spPr>
          <a:xfrm>
            <a:off x="914400" y="5330952"/>
            <a:ext cx="118872" cy="11887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70432" y="5257800"/>
            <a:ext cx="4754880" cy="777240"/>
          </a:xfrm>
          <a:prstGeom prst="rect">
            <a:avLst/>
          </a:prstGeom>
          <a:noFill/>
        </p:spPr>
        <p:txBody>
          <a:bodyPr wrap="square" anchor="t" lIns="0" rIns="0" tIns="0" bIns="0">
            <a:spAutoFit/>
          </a:bodyPr>
          <a:lstStyle/>
          <a:p>
            <a:pPr algn="l">
              <a:lnSpc>
                <a:spcPct val="108000"/>
              </a:lnSpc>
              <a:spcAft>
                <a:spcPts val="400"/>
              </a:spcAft>
            </a:pPr>
            <a:r>
              <a:rPr sz="1350" b="0" i="0">
                <a:solidFill>
                  <a:srgbClr val="1E293B"/>
                </a:solidFill>
                <a:latin typeface="Calibri"/>
              </a:rPr>
              <a:t>Quản trị an toàn qua JUMP server; đánh giá hiệu quả theo nhóm chỉ số DORA</a:t>
            </a:r>
          </a:p>
        </p:txBody>
      </p:sp>
      <p:sp>
        <p:nvSpPr>
          <p:cNvPr id="14" name="Rounded Rectangle 13"/>
          <p:cNvSpPr/>
          <p:nvPr/>
        </p:nvSpPr>
        <p:spPr>
          <a:xfrm>
            <a:off x="6400800" y="2011680"/>
            <a:ext cx="5120640" cy="4206240"/>
          </a:xfrm>
          <a:prstGeom prst="roundRect">
            <a:avLst/>
          </a:prstGeom>
          <a:solidFill>
            <a:srgbClr val="EC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20840" y="2240280"/>
            <a:ext cx="4572000" cy="457200"/>
          </a:xfrm>
          <a:prstGeom prst="rect">
            <a:avLst/>
          </a:prstGeom>
          <a:noFill/>
        </p:spPr>
        <p:txBody>
          <a:bodyPr wrap="square" anchor="t" lIns="0" rIns="0" tIns="0" bIns="0">
            <a:spAutoFit/>
          </a:bodyPr>
          <a:lstStyle/>
          <a:p>
            <a:pPr algn="l">
              <a:spcAft>
                <a:spcPts val="400"/>
              </a:spcAft>
            </a:pPr>
            <a:r>
              <a:rPr sz="1600" b="1" i="0">
                <a:solidFill>
                  <a:srgbClr val="0A6E66"/>
                </a:solidFill>
                <a:latin typeface="Calibri"/>
              </a:rPr>
              <a:t>PHẠM VI &amp; GIỚI HẠN</a:t>
            </a:r>
          </a:p>
        </p:txBody>
      </p:sp>
      <p:sp>
        <p:nvSpPr>
          <p:cNvPr id="16" name="TextBox 15"/>
          <p:cNvSpPr txBox="1"/>
          <p:nvPr/>
        </p:nvSpPr>
        <p:spPr>
          <a:xfrm>
            <a:off x="6720840" y="2788920"/>
            <a:ext cx="4572000" cy="365760"/>
          </a:xfrm>
          <a:prstGeom prst="rect">
            <a:avLst/>
          </a:prstGeom>
          <a:noFill/>
        </p:spPr>
        <p:txBody>
          <a:bodyPr wrap="square" anchor="t" lIns="0" rIns="0" tIns="0" bIns="0">
            <a:spAutoFit/>
          </a:bodyPr>
          <a:lstStyle/>
          <a:p>
            <a:pPr algn="l">
              <a:spcAft>
                <a:spcPts val="400"/>
              </a:spcAft>
            </a:pPr>
            <a:r>
              <a:rPr sz="1350" b="1" i="0">
                <a:solidFill>
                  <a:srgbClr val="1E293B"/>
                </a:solidFill>
                <a:latin typeface="Calibri"/>
              </a:rPr>
              <a:t>Phạm vi</a:t>
            </a:r>
          </a:p>
        </p:txBody>
      </p:sp>
      <p:sp>
        <p:nvSpPr>
          <p:cNvPr id="17" name="TextBox 16"/>
          <p:cNvSpPr txBox="1"/>
          <p:nvPr/>
        </p:nvSpPr>
        <p:spPr>
          <a:xfrm>
            <a:off x="6720840" y="3136391"/>
            <a:ext cx="4572000" cy="822960"/>
          </a:xfrm>
          <a:prstGeom prst="rect">
            <a:avLst/>
          </a:prstGeom>
          <a:noFill/>
        </p:spPr>
        <p:txBody>
          <a:bodyPr wrap="square" anchor="t" lIns="0" rIns="0" tIns="0" bIns="0">
            <a:spAutoFit/>
          </a:bodyPr>
          <a:lstStyle/>
          <a:p>
            <a:pPr algn="l">
              <a:lnSpc>
                <a:spcPct val="105000"/>
              </a:lnSpc>
              <a:spcAft>
                <a:spcPts val="400"/>
              </a:spcAft>
            </a:pPr>
            <a:r>
              <a:rPr sz="1250" b="0" i="0">
                <a:solidFill>
                  <a:srgbClr val="64748B"/>
                </a:solidFill>
                <a:latin typeface="Calibri"/>
              </a:rPr>
              <a:t>Pipeline CI/CD hoàn chỉnh cho một ứng dụng dịch vụ, từ mã nguồn đến vận hành trên Kubernetes</a:t>
            </a:r>
          </a:p>
        </p:txBody>
      </p:sp>
      <p:sp>
        <p:nvSpPr>
          <p:cNvPr id="18" name="TextBox 17"/>
          <p:cNvSpPr txBox="1"/>
          <p:nvPr/>
        </p:nvSpPr>
        <p:spPr>
          <a:xfrm>
            <a:off x="6720840" y="3931920"/>
            <a:ext cx="4572000" cy="365760"/>
          </a:xfrm>
          <a:prstGeom prst="rect">
            <a:avLst/>
          </a:prstGeom>
          <a:noFill/>
        </p:spPr>
        <p:txBody>
          <a:bodyPr wrap="square" anchor="t" lIns="0" rIns="0" tIns="0" bIns="0">
            <a:spAutoFit/>
          </a:bodyPr>
          <a:lstStyle/>
          <a:p>
            <a:pPr algn="l">
              <a:spcAft>
                <a:spcPts val="400"/>
              </a:spcAft>
            </a:pPr>
            <a:r>
              <a:rPr sz="1350" b="1" i="0">
                <a:solidFill>
                  <a:srgbClr val="1E293B"/>
                </a:solidFill>
                <a:latin typeface="Calibri"/>
              </a:rPr>
              <a:t>Bao gồm</a:t>
            </a:r>
          </a:p>
        </p:txBody>
      </p:sp>
      <p:sp>
        <p:nvSpPr>
          <p:cNvPr id="19" name="TextBox 18"/>
          <p:cNvSpPr txBox="1"/>
          <p:nvPr/>
        </p:nvSpPr>
        <p:spPr>
          <a:xfrm>
            <a:off x="6720840" y="4279392"/>
            <a:ext cx="4572000" cy="822960"/>
          </a:xfrm>
          <a:prstGeom prst="rect">
            <a:avLst/>
          </a:prstGeom>
          <a:noFill/>
        </p:spPr>
        <p:txBody>
          <a:bodyPr wrap="square" anchor="t" lIns="0" rIns="0" tIns="0" bIns="0">
            <a:spAutoFit/>
          </a:bodyPr>
          <a:lstStyle/>
          <a:p>
            <a:pPr algn="l">
              <a:lnSpc>
                <a:spcPct val="105000"/>
              </a:lnSpc>
              <a:spcAft>
                <a:spcPts val="400"/>
              </a:spcAft>
            </a:pPr>
            <a:r>
              <a:rPr sz="1250" b="0" i="0">
                <a:solidFill>
                  <a:srgbClr val="64748B"/>
                </a:solidFill>
                <a:latin typeface="Calibri"/>
              </a:rPr>
              <a:t>Kiểm soát chất lượng, quét bảo mật image, GitOps, giám sát tập trung, quản trị qua JUMP</a:t>
            </a:r>
          </a:p>
        </p:txBody>
      </p:sp>
      <p:sp>
        <p:nvSpPr>
          <p:cNvPr id="20" name="TextBox 19"/>
          <p:cNvSpPr txBox="1"/>
          <p:nvPr/>
        </p:nvSpPr>
        <p:spPr>
          <a:xfrm>
            <a:off x="6720840" y="5074920"/>
            <a:ext cx="4572000" cy="365760"/>
          </a:xfrm>
          <a:prstGeom prst="rect">
            <a:avLst/>
          </a:prstGeom>
          <a:noFill/>
        </p:spPr>
        <p:txBody>
          <a:bodyPr wrap="square" anchor="t" lIns="0" rIns="0" tIns="0" bIns="0">
            <a:spAutoFit/>
          </a:bodyPr>
          <a:lstStyle/>
          <a:p>
            <a:pPr algn="l">
              <a:spcAft>
                <a:spcPts val="400"/>
              </a:spcAft>
            </a:pPr>
            <a:r>
              <a:rPr sz="1350" b="1" i="0">
                <a:solidFill>
                  <a:srgbClr val="1E293B"/>
                </a:solidFill>
                <a:latin typeface="Calibri"/>
              </a:rPr>
              <a:t>Giới hạn</a:t>
            </a:r>
          </a:p>
        </p:txBody>
      </p:sp>
      <p:sp>
        <p:nvSpPr>
          <p:cNvPr id="21" name="TextBox 20"/>
          <p:cNvSpPr txBox="1"/>
          <p:nvPr/>
        </p:nvSpPr>
        <p:spPr>
          <a:xfrm>
            <a:off x="6720840" y="5422392"/>
            <a:ext cx="4572000" cy="822960"/>
          </a:xfrm>
          <a:prstGeom prst="rect">
            <a:avLst/>
          </a:prstGeom>
          <a:noFill/>
        </p:spPr>
        <p:txBody>
          <a:bodyPr wrap="square" anchor="t" lIns="0" rIns="0" tIns="0" bIns="0">
            <a:spAutoFit/>
          </a:bodyPr>
          <a:lstStyle/>
          <a:p>
            <a:pPr algn="l">
              <a:lnSpc>
                <a:spcPct val="105000"/>
              </a:lnSpc>
              <a:spcAft>
                <a:spcPts val="400"/>
              </a:spcAft>
            </a:pPr>
            <a:r>
              <a:rPr sz="1250" b="0" i="0">
                <a:solidFill>
                  <a:srgbClr val="64748B"/>
                </a:solidFill>
                <a:latin typeface="Calibri"/>
              </a:rPr>
              <a:t>Tập trung nền tảng &amp; quy trình; một số tính năng nâng cao (Vault, SSO, ký image) là hướng mở rộng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640080" y="457200"/>
            <a:ext cx="8229600" cy="365760"/>
          </a:xfrm>
          <a:prstGeom prst="rect">
            <a:avLst/>
          </a:prstGeom>
          <a:noFill/>
        </p:spPr>
        <p:txBody>
          <a:bodyPr wrap="square" anchor="t" lIns="0" rIns="0" tIns="0" bIns="0">
            <a:spAutoFit/>
          </a:bodyPr>
          <a:lstStyle/>
          <a:p>
            <a:pPr algn="l">
              <a:spcAft>
                <a:spcPts val="400"/>
              </a:spcAft>
            </a:pPr>
            <a:r>
              <a:rPr sz="1300" b="1" i="0">
                <a:solidFill>
                  <a:srgbClr val="0D9488"/>
                </a:solidFill>
                <a:latin typeface="Calibri"/>
              </a:rPr>
              <a:t>PHẦN 2 — CƠ SỞ LÝ THUYẾT</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spcAft>
                <a:spcPts val="400"/>
              </a:spcAft>
            </a:pPr>
            <a:r>
              <a:rPr sz="3000" b="1" i="0">
                <a:solidFill>
                  <a:srgbClr val="1E293B"/>
                </a:solidFill>
                <a:latin typeface="Calibri"/>
              </a:rPr>
              <a:t>Nền tảng công nghệ áp dụng</a:t>
            </a:r>
          </a:p>
        </p:txBody>
      </p:sp>
      <p:sp>
        <p:nvSpPr>
          <p:cNvPr id="4" name="Rounded Rectangle 3"/>
          <p:cNvSpPr/>
          <p:nvPr/>
        </p:nvSpPr>
        <p:spPr>
          <a:xfrm>
            <a:off x="640080" y="2103120"/>
            <a:ext cx="3602736" cy="17373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96112" y="2377439"/>
            <a:ext cx="420624" cy="420624"/>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6" name="TextBox 5"/>
          <p:cNvSpPr txBox="1"/>
          <p:nvPr/>
        </p:nvSpPr>
        <p:spPr>
          <a:xfrm>
            <a:off x="914400" y="2971800"/>
            <a:ext cx="3054096" cy="457200"/>
          </a:xfrm>
          <a:prstGeom prst="rect">
            <a:avLst/>
          </a:prstGeom>
          <a:noFill/>
        </p:spPr>
        <p:txBody>
          <a:bodyPr wrap="square" anchor="t" lIns="0" rIns="0" tIns="0" bIns="0">
            <a:spAutoFit/>
          </a:bodyPr>
          <a:lstStyle/>
          <a:p>
            <a:pPr algn="l">
              <a:spcAft>
                <a:spcPts val="400"/>
              </a:spcAft>
            </a:pPr>
            <a:r>
              <a:rPr sz="1500" b="1" i="0">
                <a:solidFill>
                  <a:srgbClr val="1E293B"/>
                </a:solidFill>
                <a:latin typeface="Calibri"/>
              </a:rPr>
              <a:t>DevOps &amp; CI/CD</a:t>
            </a:r>
          </a:p>
        </p:txBody>
      </p:sp>
      <p:sp>
        <p:nvSpPr>
          <p:cNvPr id="7" name="TextBox 6"/>
          <p:cNvSpPr txBox="1"/>
          <p:nvPr/>
        </p:nvSpPr>
        <p:spPr>
          <a:xfrm>
            <a:off x="914400" y="3383279"/>
            <a:ext cx="3054096" cy="411480"/>
          </a:xfrm>
          <a:prstGeom prst="rect">
            <a:avLst/>
          </a:prstGeom>
          <a:noFill/>
        </p:spPr>
        <p:txBody>
          <a:bodyPr wrap="square" anchor="t" lIns="0" rIns="0" tIns="0" bIns="0">
            <a:spAutoFit/>
          </a:bodyPr>
          <a:lstStyle/>
          <a:p>
            <a:pPr algn="l">
              <a:lnSpc>
                <a:spcPct val="100000"/>
              </a:lnSpc>
              <a:spcAft>
                <a:spcPts val="400"/>
              </a:spcAft>
            </a:pPr>
            <a:r>
              <a:rPr sz="1150" b="0" i="0">
                <a:solidFill>
                  <a:srgbClr val="64748B"/>
                </a:solidFill>
                <a:latin typeface="Calibri"/>
              </a:rPr>
              <a:t>Tự động build–test–scan–deploy, rút ngắn lead time</a:t>
            </a:r>
          </a:p>
        </p:txBody>
      </p:sp>
      <p:sp>
        <p:nvSpPr>
          <p:cNvPr id="8" name="Rounded Rectangle 7"/>
          <p:cNvSpPr/>
          <p:nvPr/>
        </p:nvSpPr>
        <p:spPr>
          <a:xfrm>
            <a:off x="4425696" y="2103120"/>
            <a:ext cx="3602736" cy="17373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81728" y="2377439"/>
            <a:ext cx="420624" cy="420624"/>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0" name="TextBox 9"/>
          <p:cNvSpPr txBox="1"/>
          <p:nvPr/>
        </p:nvSpPr>
        <p:spPr>
          <a:xfrm>
            <a:off x="4700016" y="2971800"/>
            <a:ext cx="3054096" cy="457200"/>
          </a:xfrm>
          <a:prstGeom prst="rect">
            <a:avLst/>
          </a:prstGeom>
          <a:noFill/>
        </p:spPr>
        <p:txBody>
          <a:bodyPr wrap="square" anchor="t" lIns="0" rIns="0" tIns="0" bIns="0">
            <a:spAutoFit/>
          </a:bodyPr>
          <a:lstStyle/>
          <a:p>
            <a:pPr algn="l">
              <a:spcAft>
                <a:spcPts val="400"/>
              </a:spcAft>
            </a:pPr>
            <a:r>
              <a:rPr sz="1500" b="1" i="0">
                <a:solidFill>
                  <a:srgbClr val="1E293B"/>
                </a:solidFill>
                <a:latin typeface="Calibri"/>
              </a:rPr>
              <a:t>Container &amp; Kubernetes</a:t>
            </a:r>
          </a:p>
        </p:txBody>
      </p:sp>
      <p:sp>
        <p:nvSpPr>
          <p:cNvPr id="11" name="TextBox 10"/>
          <p:cNvSpPr txBox="1"/>
          <p:nvPr/>
        </p:nvSpPr>
        <p:spPr>
          <a:xfrm>
            <a:off x="4700016" y="3383279"/>
            <a:ext cx="3054096" cy="411480"/>
          </a:xfrm>
          <a:prstGeom prst="rect">
            <a:avLst/>
          </a:prstGeom>
          <a:noFill/>
        </p:spPr>
        <p:txBody>
          <a:bodyPr wrap="square" anchor="t" lIns="0" rIns="0" tIns="0" bIns="0">
            <a:spAutoFit/>
          </a:bodyPr>
          <a:lstStyle/>
          <a:p>
            <a:pPr algn="l">
              <a:lnSpc>
                <a:spcPct val="100000"/>
              </a:lnSpc>
              <a:spcAft>
                <a:spcPts val="400"/>
              </a:spcAft>
            </a:pPr>
            <a:r>
              <a:rPr sz="1150" b="0" i="0">
                <a:solidFill>
                  <a:srgbClr val="64748B"/>
                </a:solidFill>
                <a:latin typeface="Calibri"/>
              </a:rPr>
              <a:t>Đóng gói bất biến, điều phối; quản lý cụm bằng Rancher</a:t>
            </a:r>
          </a:p>
        </p:txBody>
      </p:sp>
      <p:sp>
        <p:nvSpPr>
          <p:cNvPr id="12" name="Rounded Rectangle 11"/>
          <p:cNvSpPr/>
          <p:nvPr/>
        </p:nvSpPr>
        <p:spPr>
          <a:xfrm>
            <a:off x="8211311" y="2103120"/>
            <a:ext cx="3602736" cy="17373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67343" y="2377439"/>
            <a:ext cx="420624" cy="420624"/>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4" name="TextBox 13"/>
          <p:cNvSpPr txBox="1"/>
          <p:nvPr/>
        </p:nvSpPr>
        <p:spPr>
          <a:xfrm>
            <a:off x="8485632" y="2971800"/>
            <a:ext cx="3054096" cy="457200"/>
          </a:xfrm>
          <a:prstGeom prst="rect">
            <a:avLst/>
          </a:prstGeom>
          <a:noFill/>
        </p:spPr>
        <p:txBody>
          <a:bodyPr wrap="square" anchor="t" lIns="0" rIns="0" tIns="0" bIns="0">
            <a:spAutoFit/>
          </a:bodyPr>
          <a:lstStyle/>
          <a:p>
            <a:pPr algn="l">
              <a:spcAft>
                <a:spcPts val="400"/>
              </a:spcAft>
            </a:pPr>
            <a:r>
              <a:rPr sz="1500" b="1" i="0">
                <a:solidFill>
                  <a:srgbClr val="1E293B"/>
                </a:solidFill>
                <a:latin typeface="Calibri"/>
              </a:rPr>
              <a:t>GitOps &amp; Argo CD</a:t>
            </a:r>
          </a:p>
        </p:txBody>
      </p:sp>
      <p:sp>
        <p:nvSpPr>
          <p:cNvPr id="15" name="TextBox 14"/>
          <p:cNvSpPr txBox="1"/>
          <p:nvPr/>
        </p:nvSpPr>
        <p:spPr>
          <a:xfrm>
            <a:off x="8485632" y="3383279"/>
            <a:ext cx="3054096" cy="411480"/>
          </a:xfrm>
          <a:prstGeom prst="rect">
            <a:avLst/>
          </a:prstGeom>
          <a:noFill/>
        </p:spPr>
        <p:txBody>
          <a:bodyPr wrap="square" anchor="t" lIns="0" rIns="0" tIns="0" bIns="0">
            <a:spAutoFit/>
          </a:bodyPr>
          <a:lstStyle/>
          <a:p>
            <a:pPr algn="l">
              <a:lnSpc>
                <a:spcPct val="100000"/>
              </a:lnSpc>
              <a:spcAft>
                <a:spcPts val="400"/>
              </a:spcAft>
            </a:pPr>
            <a:r>
              <a:rPr sz="1150" b="0" i="0">
                <a:solidFill>
                  <a:srgbClr val="64748B"/>
                </a:solidFill>
                <a:latin typeface="Calibri"/>
              </a:rPr>
              <a:t>Git là nguồn sự thật; tự đồng bộ và tự phục hồi</a:t>
            </a:r>
          </a:p>
        </p:txBody>
      </p:sp>
      <p:sp>
        <p:nvSpPr>
          <p:cNvPr id="16" name="Rounded Rectangle 15"/>
          <p:cNvSpPr/>
          <p:nvPr/>
        </p:nvSpPr>
        <p:spPr>
          <a:xfrm>
            <a:off x="640080" y="4023360"/>
            <a:ext cx="3602736" cy="17373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96112" y="4297680"/>
            <a:ext cx="420624" cy="420624"/>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8" name="TextBox 17"/>
          <p:cNvSpPr txBox="1"/>
          <p:nvPr/>
        </p:nvSpPr>
        <p:spPr>
          <a:xfrm>
            <a:off x="914400" y="4892040"/>
            <a:ext cx="3054096" cy="457200"/>
          </a:xfrm>
          <a:prstGeom prst="rect">
            <a:avLst/>
          </a:prstGeom>
          <a:noFill/>
        </p:spPr>
        <p:txBody>
          <a:bodyPr wrap="square" anchor="t" lIns="0" rIns="0" tIns="0" bIns="0">
            <a:spAutoFit/>
          </a:bodyPr>
          <a:lstStyle/>
          <a:p>
            <a:pPr algn="l">
              <a:spcAft>
                <a:spcPts val="400"/>
              </a:spcAft>
            </a:pPr>
            <a:r>
              <a:rPr sz="1500" b="1" i="0">
                <a:solidFill>
                  <a:srgbClr val="1E293B"/>
                </a:solidFill>
                <a:latin typeface="Calibri"/>
              </a:rPr>
              <a:t>Chất lượng &amp; Registry</a:t>
            </a:r>
          </a:p>
        </p:txBody>
      </p:sp>
      <p:sp>
        <p:nvSpPr>
          <p:cNvPr id="19" name="TextBox 18"/>
          <p:cNvSpPr txBox="1"/>
          <p:nvPr/>
        </p:nvSpPr>
        <p:spPr>
          <a:xfrm>
            <a:off x="914400" y="5303520"/>
            <a:ext cx="3054096" cy="411480"/>
          </a:xfrm>
          <a:prstGeom prst="rect">
            <a:avLst/>
          </a:prstGeom>
          <a:noFill/>
        </p:spPr>
        <p:txBody>
          <a:bodyPr wrap="square" anchor="t" lIns="0" rIns="0" tIns="0" bIns="0">
            <a:spAutoFit/>
          </a:bodyPr>
          <a:lstStyle/>
          <a:p>
            <a:pPr algn="l">
              <a:lnSpc>
                <a:spcPct val="100000"/>
              </a:lnSpc>
              <a:spcAft>
                <a:spcPts val="400"/>
              </a:spcAft>
            </a:pPr>
            <a:r>
              <a:rPr sz="1150" b="0" i="0">
                <a:solidFill>
                  <a:srgbClr val="64748B"/>
                </a:solidFill>
                <a:latin typeface="Calibri"/>
              </a:rPr>
              <a:t>SonarQube (quality gate); Harbor + Trivy quét lỗ hổng</a:t>
            </a:r>
          </a:p>
        </p:txBody>
      </p:sp>
      <p:sp>
        <p:nvSpPr>
          <p:cNvPr id="20" name="Rounded Rectangle 19"/>
          <p:cNvSpPr/>
          <p:nvPr/>
        </p:nvSpPr>
        <p:spPr>
          <a:xfrm>
            <a:off x="4425696" y="4023360"/>
            <a:ext cx="3602736" cy="17373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81728" y="4297680"/>
            <a:ext cx="420624" cy="420624"/>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22" name="TextBox 21"/>
          <p:cNvSpPr txBox="1"/>
          <p:nvPr/>
        </p:nvSpPr>
        <p:spPr>
          <a:xfrm>
            <a:off x="4700016" y="4892040"/>
            <a:ext cx="3054096" cy="457200"/>
          </a:xfrm>
          <a:prstGeom prst="rect">
            <a:avLst/>
          </a:prstGeom>
          <a:noFill/>
        </p:spPr>
        <p:txBody>
          <a:bodyPr wrap="square" anchor="t" lIns="0" rIns="0" tIns="0" bIns="0">
            <a:spAutoFit/>
          </a:bodyPr>
          <a:lstStyle/>
          <a:p>
            <a:pPr algn="l">
              <a:spcAft>
                <a:spcPts val="400"/>
              </a:spcAft>
            </a:pPr>
            <a:r>
              <a:rPr sz="1500" b="1" i="0">
                <a:solidFill>
                  <a:srgbClr val="1E293B"/>
                </a:solidFill>
                <a:latin typeface="Calibri"/>
              </a:rPr>
              <a:t>Quan sát hệ thống</a:t>
            </a:r>
          </a:p>
        </p:txBody>
      </p:sp>
      <p:sp>
        <p:nvSpPr>
          <p:cNvPr id="23" name="TextBox 22"/>
          <p:cNvSpPr txBox="1"/>
          <p:nvPr/>
        </p:nvSpPr>
        <p:spPr>
          <a:xfrm>
            <a:off x="4700016" y="5303520"/>
            <a:ext cx="3054096" cy="411480"/>
          </a:xfrm>
          <a:prstGeom prst="rect">
            <a:avLst/>
          </a:prstGeom>
          <a:noFill/>
        </p:spPr>
        <p:txBody>
          <a:bodyPr wrap="square" anchor="t" lIns="0" rIns="0" tIns="0" bIns="0">
            <a:spAutoFit/>
          </a:bodyPr>
          <a:lstStyle/>
          <a:p>
            <a:pPr algn="l">
              <a:lnSpc>
                <a:spcPct val="100000"/>
              </a:lnSpc>
              <a:spcAft>
                <a:spcPts val="400"/>
              </a:spcAft>
            </a:pPr>
            <a:r>
              <a:rPr sz="1150" b="0" i="0">
                <a:solidFill>
                  <a:srgbClr val="64748B"/>
                </a:solidFill>
                <a:latin typeface="Calibri"/>
              </a:rPr>
              <a:t>Log: Kafka–ELK; Metrics: Prometheus–Grafana</a:t>
            </a:r>
          </a:p>
        </p:txBody>
      </p:sp>
      <p:sp>
        <p:nvSpPr>
          <p:cNvPr id="24" name="Rounded Rectangle 23"/>
          <p:cNvSpPr/>
          <p:nvPr/>
        </p:nvSpPr>
        <p:spPr>
          <a:xfrm>
            <a:off x="8211311" y="4023360"/>
            <a:ext cx="3602736" cy="17373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67343" y="4297680"/>
            <a:ext cx="420624" cy="420624"/>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26" name="TextBox 25"/>
          <p:cNvSpPr txBox="1"/>
          <p:nvPr/>
        </p:nvSpPr>
        <p:spPr>
          <a:xfrm>
            <a:off x="8485632" y="4892040"/>
            <a:ext cx="3054096" cy="457200"/>
          </a:xfrm>
          <a:prstGeom prst="rect">
            <a:avLst/>
          </a:prstGeom>
          <a:noFill/>
        </p:spPr>
        <p:txBody>
          <a:bodyPr wrap="square" anchor="t" lIns="0" rIns="0" tIns="0" bIns="0">
            <a:spAutoFit/>
          </a:bodyPr>
          <a:lstStyle/>
          <a:p>
            <a:pPr algn="l">
              <a:spcAft>
                <a:spcPts val="400"/>
              </a:spcAft>
            </a:pPr>
            <a:r>
              <a:rPr sz="1500" b="1" i="0">
                <a:solidFill>
                  <a:srgbClr val="1E293B"/>
                </a:solidFill>
                <a:latin typeface="Calibri"/>
              </a:rPr>
              <a:t>Chỉ số DORA</a:t>
            </a:r>
          </a:p>
        </p:txBody>
      </p:sp>
      <p:sp>
        <p:nvSpPr>
          <p:cNvPr id="27" name="TextBox 26"/>
          <p:cNvSpPr txBox="1"/>
          <p:nvPr/>
        </p:nvSpPr>
        <p:spPr>
          <a:xfrm>
            <a:off x="8485632" y="5303520"/>
            <a:ext cx="3054096" cy="411480"/>
          </a:xfrm>
          <a:prstGeom prst="rect">
            <a:avLst/>
          </a:prstGeom>
          <a:noFill/>
        </p:spPr>
        <p:txBody>
          <a:bodyPr wrap="square" anchor="t" lIns="0" rIns="0" tIns="0" bIns="0">
            <a:spAutoFit/>
          </a:bodyPr>
          <a:lstStyle/>
          <a:p>
            <a:pPr algn="l">
              <a:lnSpc>
                <a:spcPct val="100000"/>
              </a:lnSpc>
              <a:spcAft>
                <a:spcPts val="400"/>
              </a:spcAft>
            </a:pPr>
            <a:r>
              <a:rPr sz="1150" b="0" i="0">
                <a:solidFill>
                  <a:srgbClr val="64748B"/>
                </a:solidFill>
                <a:latin typeface="Calibri"/>
              </a:rPr>
              <a:t>Lead time, tần suất, MTTR, tỉ lệ lỗi thay đổi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640080" y="457200"/>
            <a:ext cx="8229600" cy="365760"/>
          </a:xfrm>
          <a:prstGeom prst="rect">
            <a:avLst/>
          </a:prstGeom>
          <a:noFill/>
        </p:spPr>
        <p:txBody>
          <a:bodyPr wrap="square" anchor="t" lIns="0" rIns="0" tIns="0" bIns="0">
            <a:spAutoFit/>
          </a:bodyPr>
          <a:lstStyle/>
          <a:p>
            <a:pPr algn="l">
              <a:spcAft>
                <a:spcPts val="400"/>
              </a:spcAft>
            </a:pPr>
            <a:r>
              <a:rPr sz="1300" b="1" i="0">
                <a:solidFill>
                  <a:srgbClr val="0D9488"/>
                </a:solidFill>
                <a:latin typeface="Calibri"/>
              </a:rPr>
              <a:t>PHẦN 3 — THIẾT KẾ HỆ THỐNG</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spcAft>
                <a:spcPts val="400"/>
              </a:spcAft>
            </a:pPr>
            <a:r>
              <a:rPr sz="3000" b="1" i="0">
                <a:solidFill>
                  <a:srgbClr val="1E293B"/>
                </a:solidFill>
                <a:latin typeface="Calibri"/>
              </a:rPr>
              <a:t>Kiến trúc tổng thể</a:t>
            </a:r>
          </a:p>
        </p:txBody>
      </p:sp>
      <p:sp>
        <p:nvSpPr>
          <p:cNvPr id="4" name="TextBox 3"/>
          <p:cNvSpPr txBox="1"/>
          <p:nvPr/>
        </p:nvSpPr>
        <p:spPr>
          <a:xfrm>
            <a:off x="640080" y="1481328"/>
            <a:ext cx="10881360" cy="457200"/>
          </a:xfrm>
          <a:prstGeom prst="rect">
            <a:avLst/>
          </a:prstGeom>
          <a:noFill/>
        </p:spPr>
        <p:txBody>
          <a:bodyPr wrap="square" anchor="t" lIns="0" rIns="0" tIns="0" bIns="0">
            <a:spAutoFit/>
          </a:bodyPr>
          <a:lstStyle/>
          <a:p>
            <a:pPr algn="l">
              <a:spcAft>
                <a:spcPts val="400"/>
              </a:spcAft>
            </a:pPr>
            <a:r>
              <a:rPr sz="1400" b="0" i="0">
                <a:solidFill>
                  <a:srgbClr val="64748B"/>
                </a:solidFill>
                <a:latin typeface="Calibri"/>
              </a:rPr>
              <a:t>Phân vùng chức năng: quản trị • nguồn &amp; CI • vận hành (K8s + Argo CD) • quan sát</a:t>
            </a:r>
          </a:p>
        </p:txBody>
      </p:sp>
      <p:pic>
        <p:nvPicPr>
          <p:cNvPr id="5" name="Picture 4" descr="arch.png"/>
          <p:cNvPicPr>
            <a:picLocks noChangeAspect="1"/>
          </p:cNvPicPr>
          <p:nvPr/>
        </p:nvPicPr>
        <p:blipFill>
          <a:blip r:embed="rId2"/>
          <a:stretch>
            <a:fillRect/>
          </a:stretch>
        </p:blipFill>
        <p:spPr>
          <a:xfrm>
            <a:off x="2562938" y="2057400"/>
            <a:ext cx="7065818" cy="4114800"/>
          </a:xfrm>
          <a:prstGeom prst="rect">
            <a:avLst/>
          </a:prstGeom>
          <a:ln w="9525">
            <a:solidFill>
              <a:srgbClr val="DDE6EA"/>
            </a:solidFill>
          </a:ln>
        </p:spPr>
      </p:pic>
      <p:sp>
        <p:nvSpPr>
          <p:cNvPr id="6" name="TextBox 5"/>
          <p:cNvSpPr txBox="1"/>
          <p:nvPr/>
        </p:nvSpPr>
        <p:spPr>
          <a:xfrm>
            <a:off x="640080" y="6217920"/>
            <a:ext cx="10911535" cy="365760"/>
          </a:xfrm>
          <a:prstGeom prst="rect">
            <a:avLst/>
          </a:prstGeom>
          <a:noFill/>
        </p:spPr>
        <p:txBody>
          <a:bodyPr wrap="square" anchor="t" lIns="0" rIns="0" tIns="0" bIns="0">
            <a:spAutoFit/>
          </a:bodyPr>
          <a:lstStyle/>
          <a:p>
            <a:pPr algn="ctr">
              <a:spcAft>
                <a:spcPts val="400"/>
              </a:spcAft>
            </a:pPr>
            <a:r>
              <a:rPr sz="1150" b="0" i="1">
                <a:solidFill>
                  <a:srgbClr val="64748B"/>
                </a:solidFill>
                <a:latin typeface="Calibri"/>
              </a:rPr>
              <a:t>Hình 3.1. Mô hình kiến trúc triển khai hệ thống CI/CD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640080" y="457200"/>
            <a:ext cx="8229600" cy="365760"/>
          </a:xfrm>
          <a:prstGeom prst="rect">
            <a:avLst/>
          </a:prstGeom>
          <a:noFill/>
        </p:spPr>
        <p:txBody>
          <a:bodyPr wrap="square" anchor="t" lIns="0" rIns="0" tIns="0" bIns="0">
            <a:spAutoFit/>
          </a:bodyPr>
          <a:lstStyle/>
          <a:p>
            <a:pPr algn="l">
              <a:spcAft>
                <a:spcPts val="400"/>
              </a:spcAft>
            </a:pPr>
            <a:r>
              <a:rPr sz="1300" b="1" i="0">
                <a:solidFill>
                  <a:srgbClr val="0D9488"/>
                </a:solidFill>
                <a:latin typeface="Calibri"/>
              </a:rPr>
              <a:t>PHẦN 3 — THIẾT KẾ HỆ THỐNG</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spcAft>
                <a:spcPts val="400"/>
              </a:spcAft>
            </a:pPr>
            <a:r>
              <a:rPr sz="3000" b="1" i="0">
                <a:solidFill>
                  <a:srgbClr val="1E293B"/>
                </a:solidFill>
                <a:latin typeface="Calibri"/>
              </a:rPr>
              <a:t>Phân vùng bảo mật &amp; Quản lý cụm với Rancher</a:t>
            </a:r>
          </a:p>
        </p:txBody>
      </p:sp>
      <p:pic>
        <p:nvPicPr>
          <p:cNvPr id="4" name="Picture 3" descr="zones.png"/>
          <p:cNvPicPr>
            <a:picLocks noChangeAspect="1"/>
          </p:cNvPicPr>
          <p:nvPr/>
        </p:nvPicPr>
        <p:blipFill>
          <a:blip r:embed="rId2"/>
          <a:stretch>
            <a:fillRect/>
          </a:stretch>
        </p:blipFill>
        <p:spPr>
          <a:xfrm>
            <a:off x="640080" y="2590799"/>
            <a:ext cx="5486400" cy="2682240"/>
          </a:xfrm>
          <a:prstGeom prst="rect">
            <a:avLst/>
          </a:prstGeom>
          <a:ln w="9525">
            <a:solidFill>
              <a:srgbClr val="DDE6EA"/>
            </a:solidFill>
          </a:ln>
        </p:spPr>
      </p:pic>
      <p:sp>
        <p:nvSpPr>
          <p:cNvPr id="5" name="TextBox 4"/>
          <p:cNvSpPr txBox="1"/>
          <p:nvPr/>
        </p:nvSpPr>
        <p:spPr>
          <a:xfrm>
            <a:off x="640080" y="5806440"/>
            <a:ext cx="5486400" cy="320040"/>
          </a:xfrm>
          <a:prstGeom prst="rect">
            <a:avLst/>
          </a:prstGeom>
          <a:noFill/>
        </p:spPr>
        <p:txBody>
          <a:bodyPr wrap="square" anchor="t" lIns="0" rIns="0" tIns="0" bIns="0">
            <a:spAutoFit/>
          </a:bodyPr>
          <a:lstStyle/>
          <a:p>
            <a:pPr algn="ctr">
              <a:spcAft>
                <a:spcPts val="400"/>
              </a:spcAft>
            </a:pPr>
            <a:r>
              <a:rPr sz="1050" b="0" i="1">
                <a:solidFill>
                  <a:srgbClr val="64748B"/>
                </a:solidFill>
                <a:latin typeface="Calibri"/>
              </a:rPr>
              <a:t>Sơ đồ phân vùng bảo mật và đường truy cập quản trị qua JUMP</a:t>
            </a:r>
          </a:p>
        </p:txBody>
      </p:sp>
      <p:pic>
        <p:nvPicPr>
          <p:cNvPr id="6" name="Picture 5" descr="rancher.png"/>
          <p:cNvPicPr>
            <a:picLocks noChangeAspect="1"/>
          </p:cNvPicPr>
          <p:nvPr/>
        </p:nvPicPr>
        <p:blipFill>
          <a:blip r:embed="rId3"/>
          <a:stretch>
            <a:fillRect/>
          </a:stretch>
        </p:blipFill>
        <p:spPr>
          <a:xfrm>
            <a:off x="6355080" y="2717488"/>
            <a:ext cx="5212080" cy="1788782"/>
          </a:xfrm>
          <a:prstGeom prst="rect">
            <a:avLst/>
          </a:prstGeom>
          <a:ln w="9525">
            <a:solidFill>
              <a:srgbClr val="DDE6EA"/>
            </a:solidFill>
          </a:ln>
        </p:spPr>
      </p:pic>
      <p:sp>
        <p:nvSpPr>
          <p:cNvPr id="7" name="TextBox 6"/>
          <p:cNvSpPr txBox="1"/>
          <p:nvPr/>
        </p:nvSpPr>
        <p:spPr>
          <a:xfrm>
            <a:off x="6355080" y="4617720"/>
            <a:ext cx="5212080" cy="292608"/>
          </a:xfrm>
          <a:prstGeom prst="rect">
            <a:avLst/>
          </a:prstGeom>
          <a:noFill/>
        </p:spPr>
        <p:txBody>
          <a:bodyPr wrap="square" anchor="t" lIns="0" rIns="0" tIns="0" bIns="0">
            <a:spAutoFit/>
          </a:bodyPr>
          <a:lstStyle/>
          <a:p>
            <a:pPr algn="ctr">
              <a:spcAft>
                <a:spcPts val="400"/>
              </a:spcAft>
            </a:pPr>
            <a:r>
              <a:rPr sz="1050" b="0" i="1">
                <a:solidFill>
                  <a:srgbClr val="64748B"/>
                </a:solidFill>
                <a:latin typeface="Calibri"/>
              </a:rPr>
              <a:t>Quản lý tập trung các cụm Kubernetes trên Rancher</a:t>
            </a:r>
          </a:p>
        </p:txBody>
      </p:sp>
      <p:sp>
        <p:nvSpPr>
          <p:cNvPr id="8" name="Rounded Rectangle 7"/>
          <p:cNvSpPr/>
          <p:nvPr/>
        </p:nvSpPr>
        <p:spPr>
          <a:xfrm>
            <a:off x="6355080" y="5029200"/>
            <a:ext cx="5212080" cy="1143000"/>
          </a:xfrm>
          <a:prstGeom prst="roundRect">
            <a:avLst/>
          </a:prstGeom>
          <a:solidFill>
            <a:srgbClr val="EC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5166360"/>
            <a:ext cx="4846320" cy="914400"/>
          </a:xfrm>
          <a:prstGeom prst="rect">
            <a:avLst/>
          </a:prstGeom>
          <a:noFill/>
        </p:spPr>
        <p:txBody>
          <a:bodyPr wrap="square" anchor="t" lIns="0" rIns="0" tIns="0" bIns="0">
            <a:spAutoFit/>
          </a:bodyPr>
          <a:lstStyle/>
          <a:p>
            <a:pPr algn="l">
              <a:lnSpc>
                <a:spcPct val="105000"/>
              </a:lnSpc>
              <a:spcAft>
                <a:spcPts val="400"/>
              </a:spcAft>
            </a:pPr>
            <a:r>
              <a:rPr sz="1300" b="1" i="0">
                <a:solidFill>
                  <a:srgbClr val="0A6E66"/>
                </a:solidFill>
                <a:latin typeface="Calibri"/>
              </a:rPr>
              <a:t>Nguyên tắc bảo mật theo lớp</a:t>
            </a:r>
          </a:p>
          <a:p>
            <a:pPr algn="l">
              <a:lnSpc>
                <a:spcPct val="105000"/>
              </a:lnSpc>
              <a:spcAft>
                <a:spcPts val="400"/>
              </a:spcAft>
            </a:pPr>
            <a:r>
              <a:rPr sz="1150" b="0" i="0">
                <a:solidFill>
                  <a:srgbClr val="64748B"/>
                </a:solidFill>
                <a:latin typeface="Calibri"/>
              </a:rPr>
              <a:t>Mọi truy cập quản trị bắt buộc qua JUMP (có ghi log); tường lửa chặn mặc định; TLS nội bộ; least-privilege &amp; RBAC.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640080" y="457200"/>
            <a:ext cx="8229600" cy="365760"/>
          </a:xfrm>
          <a:prstGeom prst="rect">
            <a:avLst/>
          </a:prstGeom>
          <a:noFill/>
        </p:spPr>
        <p:txBody>
          <a:bodyPr wrap="square" anchor="t" lIns="0" rIns="0" tIns="0" bIns="0">
            <a:spAutoFit/>
          </a:bodyPr>
          <a:lstStyle/>
          <a:p>
            <a:pPr algn="l">
              <a:spcAft>
                <a:spcPts val="400"/>
              </a:spcAft>
            </a:pPr>
            <a:r>
              <a:rPr sz="1300" b="1" i="0">
                <a:solidFill>
                  <a:srgbClr val="0D9488"/>
                </a:solidFill>
                <a:latin typeface="Calibri"/>
              </a:rPr>
              <a:t>PHẦN 3 — THIẾT KẾ HỆ THỐNG</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spcAft>
                <a:spcPts val="400"/>
              </a:spcAft>
            </a:pPr>
            <a:r>
              <a:rPr sz="3000" b="1" i="0">
                <a:solidFill>
                  <a:srgbClr val="1E293B"/>
                </a:solidFill>
                <a:latin typeface="Calibri"/>
              </a:rPr>
              <a:t>Luồng CI/CD kết hợp GitOps</a:t>
            </a:r>
          </a:p>
        </p:txBody>
      </p:sp>
      <p:sp>
        <p:nvSpPr>
          <p:cNvPr id="4" name="TextBox 3"/>
          <p:cNvSpPr txBox="1"/>
          <p:nvPr/>
        </p:nvSpPr>
        <p:spPr>
          <a:xfrm>
            <a:off x="640080" y="1481328"/>
            <a:ext cx="10881360" cy="457200"/>
          </a:xfrm>
          <a:prstGeom prst="rect">
            <a:avLst/>
          </a:prstGeom>
          <a:noFill/>
        </p:spPr>
        <p:txBody>
          <a:bodyPr wrap="square" anchor="t" lIns="0" rIns="0" tIns="0" bIns="0">
            <a:spAutoFit/>
          </a:bodyPr>
          <a:lstStyle/>
          <a:p>
            <a:pPr algn="l">
              <a:spcAft>
                <a:spcPts val="400"/>
              </a:spcAft>
            </a:pPr>
            <a:r>
              <a:rPr sz="1400" b="0" i="0">
                <a:solidFill>
                  <a:srgbClr val="64748B"/>
                </a:solidFill>
                <a:latin typeface="Calibri"/>
              </a:rPr>
              <a:t>Đánh tag → Jenkins CI → cập nhật Helm Chart → Argo CD đồng bộ → thông báo Telegram</a:t>
            </a:r>
          </a:p>
        </p:txBody>
      </p:sp>
      <p:pic>
        <p:nvPicPr>
          <p:cNvPr id="5" name="Picture 4" descr="pipeline.png"/>
          <p:cNvPicPr>
            <a:picLocks noChangeAspect="1"/>
          </p:cNvPicPr>
          <p:nvPr/>
        </p:nvPicPr>
        <p:blipFill>
          <a:blip r:embed="rId2"/>
          <a:stretch>
            <a:fillRect/>
          </a:stretch>
        </p:blipFill>
        <p:spPr>
          <a:xfrm>
            <a:off x="792327" y="2059432"/>
            <a:ext cx="10607040" cy="3653536"/>
          </a:xfrm>
          <a:prstGeom prst="rect">
            <a:avLst/>
          </a:prstGeom>
          <a:ln w="9525">
            <a:solidFill>
              <a:srgbClr val="DDE6EA"/>
            </a:solidFill>
          </a:ln>
        </p:spPr>
      </p:pic>
      <p:sp>
        <p:nvSpPr>
          <p:cNvPr id="6" name="TextBox 5"/>
          <p:cNvSpPr txBox="1"/>
          <p:nvPr/>
        </p:nvSpPr>
        <p:spPr>
          <a:xfrm>
            <a:off x="640080" y="5760720"/>
            <a:ext cx="10911535" cy="365760"/>
          </a:xfrm>
          <a:prstGeom prst="rect">
            <a:avLst/>
          </a:prstGeom>
          <a:noFill/>
        </p:spPr>
        <p:txBody>
          <a:bodyPr wrap="square" anchor="t" lIns="0" rIns="0" tIns="0" bIns="0">
            <a:spAutoFit/>
          </a:bodyPr>
          <a:lstStyle/>
          <a:p>
            <a:pPr algn="ctr">
              <a:spcAft>
                <a:spcPts val="400"/>
              </a:spcAft>
            </a:pPr>
            <a:r>
              <a:rPr sz="1150" b="0" i="1">
                <a:solidFill>
                  <a:srgbClr val="64748B"/>
                </a:solidFill>
                <a:latin typeface="Calibri"/>
              </a:rPr>
              <a:t>Hình 2.1. Pipeline CI/CD kết hợp GitOps áp dụng tại đơn vị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640080" y="457200"/>
            <a:ext cx="8229600" cy="365760"/>
          </a:xfrm>
          <a:prstGeom prst="rect">
            <a:avLst/>
          </a:prstGeom>
          <a:noFill/>
        </p:spPr>
        <p:txBody>
          <a:bodyPr wrap="square" anchor="t" lIns="0" rIns="0" tIns="0" bIns="0">
            <a:spAutoFit/>
          </a:bodyPr>
          <a:lstStyle/>
          <a:p>
            <a:pPr algn="l">
              <a:spcAft>
                <a:spcPts val="400"/>
              </a:spcAft>
            </a:pPr>
            <a:r>
              <a:rPr sz="1300" b="1" i="0">
                <a:solidFill>
                  <a:srgbClr val="0D9488"/>
                </a:solidFill>
                <a:latin typeface="Calibri"/>
              </a:rPr>
              <a:t>PHẦN 4 — TRIỂN KHAI</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spcAft>
                <a:spcPts val="400"/>
              </a:spcAft>
            </a:pPr>
            <a:r>
              <a:rPr sz="3000" b="1" i="0">
                <a:solidFill>
                  <a:srgbClr val="1E293B"/>
                </a:solidFill>
                <a:latin typeface="Calibri"/>
              </a:rPr>
              <a:t>Tích hợp liên tục: GitLab • Jenkins • SonarQube</a:t>
            </a:r>
          </a:p>
        </p:txBody>
      </p:sp>
      <p:sp>
        <p:nvSpPr>
          <p:cNvPr id="4" name="Rounded Rectangle 3"/>
          <p:cNvSpPr/>
          <p:nvPr/>
        </p:nvSpPr>
        <p:spPr>
          <a:xfrm>
            <a:off x="640080" y="2240280"/>
            <a:ext cx="3454298" cy="32461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itlab.png"/>
          <p:cNvPicPr>
            <a:picLocks noChangeAspect="1"/>
          </p:cNvPicPr>
          <p:nvPr/>
        </p:nvPicPr>
        <p:blipFill>
          <a:blip r:embed="rId2"/>
          <a:stretch>
            <a:fillRect/>
          </a:stretch>
        </p:blipFill>
        <p:spPr>
          <a:xfrm>
            <a:off x="749808" y="2961729"/>
            <a:ext cx="3234842" cy="1428317"/>
          </a:xfrm>
          <a:prstGeom prst="rect">
            <a:avLst/>
          </a:prstGeom>
          <a:ln w="9525">
            <a:solidFill>
              <a:srgbClr val="DDE6EA"/>
            </a:solidFill>
          </a:ln>
        </p:spPr>
      </p:pic>
      <p:sp>
        <p:nvSpPr>
          <p:cNvPr id="6" name="TextBox 5"/>
          <p:cNvSpPr txBox="1"/>
          <p:nvPr/>
        </p:nvSpPr>
        <p:spPr>
          <a:xfrm>
            <a:off x="731519" y="5029200"/>
            <a:ext cx="3271418" cy="411480"/>
          </a:xfrm>
          <a:prstGeom prst="rect">
            <a:avLst/>
          </a:prstGeom>
          <a:noFill/>
        </p:spPr>
        <p:txBody>
          <a:bodyPr wrap="square" anchor="t" lIns="0" rIns="0" tIns="0" bIns="0">
            <a:spAutoFit/>
          </a:bodyPr>
          <a:lstStyle/>
          <a:p>
            <a:pPr algn="ctr">
              <a:spcAft>
                <a:spcPts val="400"/>
              </a:spcAft>
            </a:pPr>
            <a:r>
              <a:rPr sz="1050" b="0" i="1">
                <a:solidFill>
                  <a:srgbClr val="64748B"/>
                </a:solidFill>
                <a:latin typeface="Calibri"/>
              </a:rPr>
              <a:t>Tổ chức nhóm dự án (Groups) trên GitLab</a:t>
            </a:r>
          </a:p>
        </p:txBody>
      </p:sp>
      <p:sp>
        <p:nvSpPr>
          <p:cNvPr id="7" name="Rounded Rectangle 6"/>
          <p:cNvSpPr/>
          <p:nvPr/>
        </p:nvSpPr>
        <p:spPr>
          <a:xfrm>
            <a:off x="4368698" y="2240280"/>
            <a:ext cx="3454298" cy="32461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jenkins.png"/>
          <p:cNvPicPr>
            <a:picLocks noChangeAspect="1"/>
          </p:cNvPicPr>
          <p:nvPr/>
        </p:nvPicPr>
        <p:blipFill>
          <a:blip r:embed="rId3"/>
          <a:stretch>
            <a:fillRect/>
          </a:stretch>
        </p:blipFill>
        <p:spPr>
          <a:xfrm>
            <a:off x="4478426" y="3066082"/>
            <a:ext cx="3234842" cy="1219611"/>
          </a:xfrm>
          <a:prstGeom prst="rect">
            <a:avLst/>
          </a:prstGeom>
          <a:ln w="9525">
            <a:solidFill>
              <a:srgbClr val="DDE6EA"/>
            </a:solidFill>
          </a:ln>
        </p:spPr>
      </p:pic>
      <p:sp>
        <p:nvSpPr>
          <p:cNvPr id="9" name="TextBox 8"/>
          <p:cNvSpPr txBox="1"/>
          <p:nvPr/>
        </p:nvSpPr>
        <p:spPr>
          <a:xfrm>
            <a:off x="4460138" y="5029200"/>
            <a:ext cx="3271418" cy="411480"/>
          </a:xfrm>
          <a:prstGeom prst="rect">
            <a:avLst/>
          </a:prstGeom>
          <a:noFill/>
        </p:spPr>
        <p:txBody>
          <a:bodyPr wrap="square" anchor="t" lIns="0" rIns="0" tIns="0" bIns="0">
            <a:spAutoFit/>
          </a:bodyPr>
          <a:lstStyle/>
          <a:p>
            <a:pPr algn="ctr">
              <a:spcAft>
                <a:spcPts val="400"/>
              </a:spcAft>
            </a:pPr>
            <a:r>
              <a:rPr sz="1050" b="0" i="1">
                <a:solidFill>
                  <a:srgbClr val="64748B"/>
                </a:solidFill>
                <a:latin typeface="Calibri"/>
              </a:rPr>
              <a:t>Danh sách pipeline đa dự án trên Jenkins</a:t>
            </a:r>
          </a:p>
        </p:txBody>
      </p:sp>
      <p:sp>
        <p:nvSpPr>
          <p:cNvPr id="10" name="Rounded Rectangle 9"/>
          <p:cNvSpPr/>
          <p:nvPr/>
        </p:nvSpPr>
        <p:spPr>
          <a:xfrm>
            <a:off x="8097316" y="2240280"/>
            <a:ext cx="3454298" cy="32461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onar.png"/>
          <p:cNvPicPr>
            <a:picLocks noChangeAspect="1"/>
          </p:cNvPicPr>
          <p:nvPr/>
        </p:nvPicPr>
        <p:blipFill>
          <a:blip r:embed="rId4"/>
          <a:stretch>
            <a:fillRect/>
          </a:stretch>
        </p:blipFill>
        <p:spPr>
          <a:xfrm>
            <a:off x="8207044" y="2917721"/>
            <a:ext cx="3234842" cy="1516332"/>
          </a:xfrm>
          <a:prstGeom prst="rect">
            <a:avLst/>
          </a:prstGeom>
          <a:ln w="9525">
            <a:solidFill>
              <a:srgbClr val="DDE6EA"/>
            </a:solidFill>
          </a:ln>
        </p:spPr>
      </p:pic>
      <p:sp>
        <p:nvSpPr>
          <p:cNvPr id="12" name="TextBox 11"/>
          <p:cNvSpPr txBox="1"/>
          <p:nvPr/>
        </p:nvSpPr>
        <p:spPr>
          <a:xfrm>
            <a:off x="8188756" y="5029200"/>
            <a:ext cx="3271418" cy="411480"/>
          </a:xfrm>
          <a:prstGeom prst="rect">
            <a:avLst/>
          </a:prstGeom>
          <a:noFill/>
        </p:spPr>
        <p:txBody>
          <a:bodyPr wrap="square" anchor="t" lIns="0" rIns="0" tIns="0" bIns="0">
            <a:spAutoFit/>
          </a:bodyPr>
          <a:lstStyle/>
          <a:p>
            <a:pPr algn="ctr">
              <a:spcAft>
                <a:spcPts val="400"/>
              </a:spcAft>
            </a:pPr>
            <a:r>
              <a:rPr sz="1050" b="0" i="1">
                <a:solidFill>
                  <a:srgbClr val="64748B"/>
                </a:solidFill>
                <a:latin typeface="Calibri"/>
              </a:rPr>
              <a:t>Cổng chất lượng các dự án trên SonarQube</a:t>
            </a:r>
          </a:p>
        </p:txBody>
      </p:sp>
      <p:sp>
        <p:nvSpPr>
          <p:cNvPr id="13" name="TextBox 12"/>
          <p:cNvSpPr txBox="1"/>
          <p:nvPr/>
        </p:nvSpPr>
        <p:spPr>
          <a:xfrm>
            <a:off x="640080" y="5440680"/>
            <a:ext cx="10972800" cy="822960"/>
          </a:xfrm>
          <a:prstGeom prst="rect">
            <a:avLst/>
          </a:prstGeom>
          <a:noFill/>
        </p:spPr>
        <p:txBody>
          <a:bodyPr wrap="square" anchor="t" lIns="0" rIns="0" tIns="0" bIns="0">
            <a:spAutoFit/>
          </a:bodyPr>
          <a:lstStyle/>
          <a:p>
            <a:pPr algn="l">
              <a:lnSpc>
                <a:spcPct val="110000"/>
              </a:lnSpc>
              <a:spcAft>
                <a:spcPts val="400"/>
              </a:spcAft>
            </a:pPr>
            <a:r>
              <a:rPr sz="1250" b="0" i="0">
                <a:solidFill>
                  <a:srgbClr val="1E293B"/>
                </a:solidFill>
                <a:latin typeface="Calibri"/>
              </a:rPr>
              <a:t>GitLab quản lý mã nguồn &amp; webhook (tag push) → Jenkins chạy CI (Pipeline as Code, đăng nhập LDAP) → </a:t>
            </a:r>
            <a:r>
              <a:rPr sz="1250" b="1" i="0">
                <a:solidFill>
                  <a:srgbClr val="0D9488"/>
                </a:solidFill>
                <a:latin typeface="Calibri"/>
              </a:rPr>
              <a:t>SonarQube kiểm soát chất lượng: chỉ khi quality gate đạt pipeline mới đi tiếp.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640080" y="457200"/>
            <a:ext cx="8229600" cy="365760"/>
          </a:xfrm>
          <a:prstGeom prst="rect">
            <a:avLst/>
          </a:prstGeom>
          <a:noFill/>
        </p:spPr>
        <p:txBody>
          <a:bodyPr wrap="square" anchor="t" lIns="0" rIns="0" tIns="0" bIns="0">
            <a:spAutoFit/>
          </a:bodyPr>
          <a:lstStyle/>
          <a:p>
            <a:pPr algn="l">
              <a:spcAft>
                <a:spcPts val="400"/>
              </a:spcAft>
            </a:pPr>
            <a:r>
              <a:rPr sz="1300" b="1" i="0">
                <a:solidFill>
                  <a:srgbClr val="0D9488"/>
                </a:solidFill>
                <a:latin typeface="Calibri"/>
              </a:rPr>
              <a:t>PHẦN 4 — TRIỂN KHAI</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spcAft>
                <a:spcPts val="400"/>
              </a:spcAft>
            </a:pPr>
            <a:r>
              <a:rPr sz="3000" b="1" i="0">
                <a:solidFill>
                  <a:srgbClr val="1E293B"/>
                </a:solidFill>
                <a:latin typeface="Calibri"/>
              </a:rPr>
              <a:t>Registry nội bộ Harbor &amp; quét lỗ hổng Trivy</a:t>
            </a:r>
          </a:p>
        </p:txBody>
      </p:sp>
      <p:pic>
        <p:nvPicPr>
          <p:cNvPr id="4" name="Picture 3" descr="harbor.png"/>
          <p:cNvPicPr>
            <a:picLocks noChangeAspect="1"/>
          </p:cNvPicPr>
          <p:nvPr/>
        </p:nvPicPr>
        <p:blipFill>
          <a:blip r:embed="rId2"/>
          <a:stretch>
            <a:fillRect/>
          </a:stretch>
        </p:blipFill>
        <p:spPr>
          <a:xfrm>
            <a:off x="640080" y="2457497"/>
            <a:ext cx="5486400" cy="2034444"/>
          </a:xfrm>
          <a:prstGeom prst="rect">
            <a:avLst/>
          </a:prstGeom>
          <a:ln w="9525">
            <a:solidFill>
              <a:srgbClr val="DDE6EA"/>
            </a:solidFill>
          </a:ln>
        </p:spPr>
      </p:pic>
      <p:sp>
        <p:nvSpPr>
          <p:cNvPr id="5" name="TextBox 4"/>
          <p:cNvSpPr txBox="1"/>
          <p:nvPr/>
        </p:nvSpPr>
        <p:spPr>
          <a:xfrm>
            <a:off x="640080" y="5029200"/>
            <a:ext cx="5486400" cy="292608"/>
          </a:xfrm>
          <a:prstGeom prst="rect">
            <a:avLst/>
          </a:prstGeom>
          <a:noFill/>
        </p:spPr>
        <p:txBody>
          <a:bodyPr wrap="square" anchor="t" lIns="0" rIns="0" tIns="0" bIns="0">
            <a:spAutoFit/>
          </a:bodyPr>
          <a:lstStyle/>
          <a:p>
            <a:pPr algn="ctr">
              <a:spcAft>
                <a:spcPts val="400"/>
              </a:spcAft>
            </a:pPr>
            <a:r>
              <a:rPr sz="1050" b="0" i="1">
                <a:solidFill>
                  <a:srgbClr val="64748B"/>
                </a:solidFill>
                <a:latin typeface="Calibri"/>
              </a:rPr>
              <a:t>Các project image trên Harbor (registry nội bộ)</a:t>
            </a:r>
          </a:p>
        </p:txBody>
      </p:sp>
      <p:pic>
        <p:nvPicPr>
          <p:cNvPr id="6" name="Picture 5" descr="trivy.png"/>
          <p:cNvPicPr>
            <a:picLocks noChangeAspect="1"/>
          </p:cNvPicPr>
          <p:nvPr/>
        </p:nvPicPr>
        <p:blipFill>
          <a:blip r:embed="rId3"/>
          <a:stretch>
            <a:fillRect/>
          </a:stretch>
        </p:blipFill>
        <p:spPr>
          <a:xfrm>
            <a:off x="6355080" y="2200656"/>
            <a:ext cx="5212080" cy="2548128"/>
          </a:xfrm>
          <a:prstGeom prst="rect">
            <a:avLst/>
          </a:prstGeom>
          <a:ln w="9525">
            <a:solidFill>
              <a:srgbClr val="DDE6EA"/>
            </a:solidFill>
          </a:ln>
        </p:spPr>
      </p:pic>
      <p:sp>
        <p:nvSpPr>
          <p:cNvPr id="7" name="TextBox 6"/>
          <p:cNvSpPr txBox="1"/>
          <p:nvPr/>
        </p:nvSpPr>
        <p:spPr>
          <a:xfrm>
            <a:off x="6355080" y="5029200"/>
            <a:ext cx="5212080" cy="292608"/>
          </a:xfrm>
          <a:prstGeom prst="rect">
            <a:avLst/>
          </a:prstGeom>
          <a:noFill/>
        </p:spPr>
        <p:txBody>
          <a:bodyPr wrap="square" anchor="t" lIns="0" rIns="0" tIns="0" bIns="0">
            <a:spAutoFit/>
          </a:bodyPr>
          <a:lstStyle/>
          <a:p>
            <a:pPr algn="ctr">
              <a:spcAft>
                <a:spcPts val="400"/>
              </a:spcAft>
            </a:pPr>
            <a:r>
              <a:rPr sz="1050" b="0" i="1">
                <a:solidFill>
                  <a:srgbClr val="64748B"/>
                </a:solidFill>
                <a:latin typeface="Calibri"/>
              </a:rPr>
              <a:t>Hình 4.11. Kết quả quét lỗ hổng Trivy tích hợp trong Harbor</a:t>
            </a:r>
          </a:p>
        </p:txBody>
      </p:sp>
      <p:sp>
        <p:nvSpPr>
          <p:cNvPr id="8" name="TextBox 7"/>
          <p:cNvSpPr txBox="1"/>
          <p:nvPr/>
        </p:nvSpPr>
        <p:spPr>
          <a:xfrm>
            <a:off x="640080" y="5532120"/>
            <a:ext cx="10972800" cy="731520"/>
          </a:xfrm>
          <a:prstGeom prst="rect">
            <a:avLst/>
          </a:prstGeom>
          <a:noFill/>
        </p:spPr>
        <p:txBody>
          <a:bodyPr wrap="square" anchor="t" lIns="0" rIns="0" tIns="0" bIns="0">
            <a:spAutoFit/>
          </a:bodyPr>
          <a:lstStyle/>
          <a:p>
            <a:pPr algn="l">
              <a:lnSpc>
                <a:spcPct val="110000"/>
              </a:lnSpc>
              <a:spcAft>
                <a:spcPts val="400"/>
              </a:spcAft>
            </a:pPr>
            <a:r>
              <a:rPr sz="1250" b="0" i="0">
                <a:solidFill>
                  <a:srgbClr val="1E293B"/>
                </a:solidFill>
                <a:latin typeface="Calibri"/>
              </a:rPr>
              <a:t>Image được đẩy lên registry nội bộ và tự động quét lỗ hổng khi push; </a:t>
            </a:r>
            <a:r>
              <a:rPr sz="1250" b="1" i="0">
                <a:solidFill>
                  <a:srgbClr val="0D9488"/>
                </a:solidFill>
                <a:latin typeface="Calibri"/>
              </a:rPr>
              <a:t>chính sách chặn pull image vượt ngưỡng nghiêm trọng — bảo mật chuỗi cung ứng.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640080" y="457200"/>
            <a:ext cx="8229600" cy="365760"/>
          </a:xfrm>
          <a:prstGeom prst="rect">
            <a:avLst/>
          </a:prstGeom>
          <a:noFill/>
        </p:spPr>
        <p:txBody>
          <a:bodyPr wrap="square" anchor="t" lIns="0" rIns="0" tIns="0" bIns="0">
            <a:spAutoFit/>
          </a:bodyPr>
          <a:lstStyle/>
          <a:p>
            <a:pPr algn="l">
              <a:spcAft>
                <a:spcPts val="400"/>
              </a:spcAft>
            </a:pPr>
            <a:r>
              <a:rPr sz="1300" b="1" i="0">
                <a:solidFill>
                  <a:srgbClr val="0D9488"/>
                </a:solidFill>
                <a:latin typeface="Calibri"/>
              </a:rPr>
              <a:t>PHẦN 4 — TRIỂN KHAI</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spcAft>
                <a:spcPts val="400"/>
              </a:spcAft>
            </a:pPr>
            <a:r>
              <a:rPr sz="3000" b="1" i="0">
                <a:solidFill>
                  <a:srgbClr val="1E293B"/>
                </a:solidFill>
                <a:latin typeface="Calibri"/>
              </a:rPr>
              <a:t>Phân phối liên tục theo GitOps với Argo CD</a:t>
            </a:r>
          </a:p>
        </p:txBody>
      </p:sp>
      <p:sp>
        <p:nvSpPr>
          <p:cNvPr id="4" name="TextBox 3"/>
          <p:cNvSpPr txBox="1"/>
          <p:nvPr/>
        </p:nvSpPr>
        <p:spPr>
          <a:xfrm>
            <a:off x="640080" y="1481328"/>
            <a:ext cx="10881360" cy="457200"/>
          </a:xfrm>
          <a:prstGeom prst="rect">
            <a:avLst/>
          </a:prstGeom>
          <a:noFill/>
        </p:spPr>
        <p:txBody>
          <a:bodyPr wrap="square" anchor="t" lIns="0" rIns="0" tIns="0" bIns="0">
            <a:spAutoFit/>
          </a:bodyPr>
          <a:lstStyle/>
          <a:p>
            <a:pPr algn="l">
              <a:spcAft>
                <a:spcPts val="400"/>
              </a:spcAft>
            </a:pPr>
            <a:r>
              <a:rPr sz="1400" b="0" i="0">
                <a:solidFill>
                  <a:srgbClr val="64748B"/>
                </a:solidFill>
                <a:latin typeface="Calibri"/>
              </a:rPr>
              <a:t>Argo CD theo dõi kho devsecops, tự đồng bộ trạng thái mong muốn vào Kubernetes &amp; tự phục hồi</a:t>
            </a:r>
          </a:p>
        </p:txBody>
      </p:sp>
      <p:pic>
        <p:nvPicPr>
          <p:cNvPr id="5" name="Picture 4" descr="argocd.png"/>
          <p:cNvPicPr>
            <a:picLocks noChangeAspect="1"/>
          </p:cNvPicPr>
          <p:nvPr/>
        </p:nvPicPr>
        <p:blipFill>
          <a:blip r:embed="rId2"/>
          <a:stretch>
            <a:fillRect/>
          </a:stretch>
        </p:blipFill>
        <p:spPr>
          <a:xfrm>
            <a:off x="1981047" y="2166940"/>
            <a:ext cx="8229600" cy="3895719"/>
          </a:xfrm>
          <a:prstGeom prst="rect">
            <a:avLst/>
          </a:prstGeom>
          <a:ln w="9525">
            <a:solidFill>
              <a:srgbClr val="DDE6EA"/>
            </a:solidFill>
          </a:ln>
        </p:spPr>
      </p:pic>
      <p:sp>
        <p:nvSpPr>
          <p:cNvPr id="6" name="TextBox 5"/>
          <p:cNvSpPr txBox="1"/>
          <p:nvPr/>
        </p:nvSpPr>
        <p:spPr>
          <a:xfrm>
            <a:off x="640080" y="6217920"/>
            <a:ext cx="10911535" cy="365760"/>
          </a:xfrm>
          <a:prstGeom prst="rect">
            <a:avLst/>
          </a:prstGeom>
          <a:noFill/>
        </p:spPr>
        <p:txBody>
          <a:bodyPr wrap="square" anchor="t" lIns="0" rIns="0" tIns="0" bIns="0">
            <a:spAutoFit/>
          </a:bodyPr>
          <a:lstStyle/>
          <a:p>
            <a:pPr algn="ctr">
              <a:spcAft>
                <a:spcPts val="400"/>
              </a:spcAft>
            </a:pPr>
            <a:r>
              <a:rPr sz="1150" b="0" i="1">
                <a:solidFill>
                  <a:srgbClr val="64748B"/>
                </a:solidFill>
                <a:latin typeface="Calibri"/>
              </a:rPr>
              <a:t>Trạng thái Synced/Healthy &amp; cây tài nguyên ứng dụng trên Argo CD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640080" y="457200"/>
            <a:ext cx="8229600" cy="365760"/>
          </a:xfrm>
          <a:prstGeom prst="rect">
            <a:avLst/>
          </a:prstGeom>
          <a:noFill/>
        </p:spPr>
        <p:txBody>
          <a:bodyPr wrap="square" anchor="t" lIns="0" rIns="0" tIns="0" bIns="0">
            <a:spAutoFit/>
          </a:bodyPr>
          <a:lstStyle/>
          <a:p>
            <a:pPr algn="l">
              <a:spcAft>
                <a:spcPts val="400"/>
              </a:spcAft>
            </a:pPr>
            <a:r>
              <a:rPr sz="1300" b="1" i="0">
                <a:solidFill>
                  <a:srgbClr val="0D9488"/>
                </a:solidFill>
                <a:latin typeface="Calibri"/>
              </a:rPr>
              <a:t>PHẦN 4 — TRIỂN KHAI</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spcAft>
                <a:spcPts val="400"/>
              </a:spcAft>
            </a:pPr>
            <a:r>
              <a:rPr sz="3000" b="1" i="0">
                <a:solidFill>
                  <a:srgbClr val="1E293B"/>
                </a:solidFill>
                <a:latin typeface="Calibri"/>
              </a:rPr>
              <a:t>Giám sát tập trung: Log (ELK) &amp; Metrics (Grafana)</a:t>
            </a:r>
          </a:p>
        </p:txBody>
      </p:sp>
      <p:pic>
        <p:nvPicPr>
          <p:cNvPr id="4" name="Picture 3" descr="kibana.png"/>
          <p:cNvPicPr>
            <a:picLocks noChangeAspect="1"/>
          </p:cNvPicPr>
          <p:nvPr/>
        </p:nvPicPr>
        <p:blipFill>
          <a:blip r:embed="rId2"/>
          <a:stretch>
            <a:fillRect/>
          </a:stretch>
        </p:blipFill>
        <p:spPr>
          <a:xfrm>
            <a:off x="640080" y="2600315"/>
            <a:ext cx="5486400" cy="2023128"/>
          </a:xfrm>
          <a:prstGeom prst="rect">
            <a:avLst/>
          </a:prstGeom>
          <a:ln w="9525">
            <a:solidFill>
              <a:srgbClr val="DDE6EA"/>
            </a:solidFill>
          </a:ln>
        </p:spPr>
      </p:pic>
      <p:sp>
        <p:nvSpPr>
          <p:cNvPr id="5" name="TextBox 4"/>
          <p:cNvSpPr txBox="1"/>
          <p:nvPr/>
        </p:nvSpPr>
        <p:spPr>
          <a:xfrm>
            <a:off x="640080" y="5120640"/>
            <a:ext cx="5486400" cy="292608"/>
          </a:xfrm>
          <a:prstGeom prst="rect">
            <a:avLst/>
          </a:prstGeom>
          <a:noFill/>
        </p:spPr>
        <p:txBody>
          <a:bodyPr wrap="square" anchor="t" lIns="0" rIns="0" tIns="0" bIns="0">
            <a:spAutoFit/>
          </a:bodyPr>
          <a:lstStyle/>
          <a:p>
            <a:pPr algn="ctr">
              <a:spcAft>
                <a:spcPts val="400"/>
              </a:spcAft>
            </a:pPr>
            <a:r>
              <a:rPr sz="1050" b="0" i="1">
                <a:solidFill>
                  <a:srgbClr val="64748B"/>
                </a:solidFill>
                <a:latin typeface="Calibri"/>
              </a:rPr>
              <a:t>Tra cứu log tập trung trên Kibana (Discover)</a:t>
            </a:r>
          </a:p>
        </p:txBody>
      </p:sp>
      <p:pic>
        <p:nvPicPr>
          <p:cNvPr id="6" name="Picture 5" descr="grafana.png"/>
          <p:cNvPicPr>
            <a:picLocks noChangeAspect="1"/>
          </p:cNvPicPr>
          <p:nvPr/>
        </p:nvPicPr>
        <p:blipFill>
          <a:blip r:embed="rId3"/>
          <a:stretch>
            <a:fillRect/>
          </a:stretch>
        </p:blipFill>
        <p:spPr>
          <a:xfrm>
            <a:off x="6355080" y="2337816"/>
            <a:ext cx="5212080" cy="2548128"/>
          </a:xfrm>
          <a:prstGeom prst="rect">
            <a:avLst/>
          </a:prstGeom>
          <a:ln w="9525">
            <a:solidFill>
              <a:srgbClr val="DDE6EA"/>
            </a:solidFill>
          </a:ln>
        </p:spPr>
      </p:pic>
      <p:sp>
        <p:nvSpPr>
          <p:cNvPr id="7" name="TextBox 6"/>
          <p:cNvSpPr txBox="1"/>
          <p:nvPr/>
        </p:nvSpPr>
        <p:spPr>
          <a:xfrm>
            <a:off x="6355080" y="5120640"/>
            <a:ext cx="5212080" cy="292608"/>
          </a:xfrm>
          <a:prstGeom prst="rect">
            <a:avLst/>
          </a:prstGeom>
          <a:noFill/>
        </p:spPr>
        <p:txBody>
          <a:bodyPr wrap="square" anchor="t" lIns="0" rIns="0" tIns="0" bIns="0">
            <a:spAutoFit/>
          </a:bodyPr>
          <a:lstStyle/>
          <a:p>
            <a:pPr algn="ctr">
              <a:spcAft>
                <a:spcPts val="400"/>
              </a:spcAft>
            </a:pPr>
            <a:r>
              <a:rPr sz="1050" b="0" i="1">
                <a:solidFill>
                  <a:srgbClr val="64748B"/>
                </a:solidFill>
                <a:latin typeface="Calibri"/>
              </a:rPr>
              <a:t>Hình 4.20. Bảng điều khiển giám sát trên Grafana</a:t>
            </a:r>
          </a:p>
        </p:txBody>
      </p:sp>
      <p:sp>
        <p:nvSpPr>
          <p:cNvPr id="8" name="TextBox 7"/>
          <p:cNvSpPr txBox="1"/>
          <p:nvPr/>
        </p:nvSpPr>
        <p:spPr>
          <a:xfrm>
            <a:off x="640080" y="5577840"/>
            <a:ext cx="10972800" cy="731520"/>
          </a:xfrm>
          <a:prstGeom prst="rect">
            <a:avLst/>
          </a:prstGeom>
          <a:noFill/>
        </p:spPr>
        <p:txBody>
          <a:bodyPr wrap="square" anchor="t" lIns="0" rIns="0" tIns="0" bIns="0">
            <a:spAutoFit/>
          </a:bodyPr>
          <a:lstStyle/>
          <a:p>
            <a:pPr algn="l">
              <a:lnSpc>
                <a:spcPct val="110000"/>
              </a:lnSpc>
              <a:spcAft>
                <a:spcPts val="400"/>
              </a:spcAft>
            </a:pPr>
            <a:r>
              <a:rPr sz="1250" b="0" i="0">
                <a:solidFill>
                  <a:srgbClr val="1E293B"/>
                </a:solidFill>
                <a:latin typeface="Calibri"/>
              </a:rPr>
              <a:t>Filebeat → Kafka (đệm) → Logstash → Elasticsearch → Kibana cho log; </a:t>
            </a:r>
            <a:r>
              <a:rPr sz="1250" b="1" i="0">
                <a:solidFill>
                  <a:srgbClr val="0D9488"/>
                </a:solidFill>
                <a:latin typeface="Calibri"/>
              </a:rPr>
              <a:t>Prometheus → Grafana cho metrics, có cảnh báo. Dev và vận hành cùng tra cứu.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640080" y="457200"/>
            <a:ext cx="8229600" cy="365760"/>
          </a:xfrm>
          <a:prstGeom prst="rect">
            <a:avLst/>
          </a:prstGeom>
          <a:noFill/>
        </p:spPr>
        <p:txBody>
          <a:bodyPr wrap="square" anchor="t" lIns="0" rIns="0" tIns="0" bIns="0">
            <a:spAutoFit/>
          </a:bodyPr>
          <a:lstStyle/>
          <a:p>
            <a:pPr algn="l">
              <a:spcAft>
                <a:spcPts val="400"/>
              </a:spcAft>
            </a:pPr>
            <a:r>
              <a:rPr sz="1300" b="1" i="0">
                <a:solidFill>
                  <a:srgbClr val="0D9488"/>
                </a:solidFill>
                <a:latin typeface="Calibri"/>
              </a:rPr>
              <a:t>PHẦN 5 — DEMO &amp; ĐÁNH GIÁ</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spcAft>
                <a:spcPts val="400"/>
              </a:spcAft>
            </a:pPr>
            <a:r>
              <a:rPr sz="3000" b="1" i="0">
                <a:solidFill>
                  <a:srgbClr val="1E293B"/>
                </a:solidFill>
                <a:latin typeface="Calibri"/>
              </a:rPr>
              <a:t>Demo 1: Triển khai tự động end-to-end</a:t>
            </a:r>
          </a:p>
        </p:txBody>
      </p:sp>
      <p:sp>
        <p:nvSpPr>
          <p:cNvPr id="4" name="Rounded Rectangle 3"/>
          <p:cNvSpPr/>
          <p:nvPr/>
        </p:nvSpPr>
        <p:spPr>
          <a:xfrm>
            <a:off x="640080" y="2148840"/>
            <a:ext cx="493776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8680" y="2377440"/>
            <a:ext cx="365760" cy="36576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6" name="TextBox 5"/>
          <p:cNvSpPr txBox="1"/>
          <p:nvPr/>
        </p:nvSpPr>
        <p:spPr>
          <a:xfrm>
            <a:off x="1371600" y="2359152"/>
            <a:ext cx="4023360" cy="868680"/>
          </a:xfrm>
          <a:prstGeom prst="rect">
            <a:avLst/>
          </a:prstGeom>
          <a:noFill/>
        </p:spPr>
        <p:txBody>
          <a:bodyPr wrap="square" anchor="t" lIns="0" rIns="0" tIns="0" bIns="0">
            <a:spAutoFit/>
          </a:bodyPr>
          <a:lstStyle/>
          <a:p>
            <a:pPr algn="l">
              <a:lnSpc>
                <a:spcPct val="105000"/>
              </a:lnSpc>
              <a:spcAft>
                <a:spcPts val="400"/>
              </a:spcAft>
            </a:pPr>
            <a:r>
              <a:rPr sz="1300" b="0" i="0">
                <a:solidFill>
                  <a:srgbClr val="1E293B"/>
                </a:solidFill>
                <a:latin typeface="Calibri"/>
              </a:rPr>
              <a:t>Đánh tag phát hành trên GitLab (vd: stage-v260408-01)</a:t>
            </a:r>
          </a:p>
        </p:txBody>
      </p:sp>
      <p:sp>
        <p:nvSpPr>
          <p:cNvPr id="7" name="Oval 6"/>
          <p:cNvSpPr/>
          <p:nvPr/>
        </p:nvSpPr>
        <p:spPr>
          <a:xfrm>
            <a:off x="868680" y="3246120"/>
            <a:ext cx="365760" cy="36576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8" name="TextBox 7"/>
          <p:cNvSpPr txBox="1"/>
          <p:nvPr/>
        </p:nvSpPr>
        <p:spPr>
          <a:xfrm>
            <a:off x="1371600" y="3227832"/>
            <a:ext cx="4023360" cy="868680"/>
          </a:xfrm>
          <a:prstGeom prst="rect">
            <a:avLst/>
          </a:prstGeom>
          <a:noFill/>
        </p:spPr>
        <p:txBody>
          <a:bodyPr wrap="square" anchor="t" lIns="0" rIns="0" tIns="0" bIns="0">
            <a:spAutoFit/>
          </a:bodyPr>
          <a:lstStyle/>
          <a:p>
            <a:pPr algn="l">
              <a:lnSpc>
                <a:spcPct val="105000"/>
              </a:lnSpc>
              <a:spcAft>
                <a:spcPts val="400"/>
              </a:spcAft>
            </a:pPr>
            <a:r>
              <a:rPr sz="1300" b="0" i="0">
                <a:solidFill>
                  <a:srgbClr val="1E293B"/>
                </a:solidFill>
                <a:latin typeface="Calibri"/>
              </a:rPr>
              <a:t>Jenkins chạy CI: build → Sonar → push image (Trivy) → cập nhật Helm Chart</a:t>
            </a:r>
          </a:p>
        </p:txBody>
      </p:sp>
      <p:sp>
        <p:nvSpPr>
          <p:cNvPr id="9" name="Oval 8"/>
          <p:cNvSpPr/>
          <p:nvPr/>
        </p:nvSpPr>
        <p:spPr>
          <a:xfrm>
            <a:off x="868680" y="4114800"/>
            <a:ext cx="365760" cy="36576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0" name="TextBox 9"/>
          <p:cNvSpPr txBox="1"/>
          <p:nvPr/>
        </p:nvSpPr>
        <p:spPr>
          <a:xfrm>
            <a:off x="1371600" y="4096512"/>
            <a:ext cx="4023360" cy="868680"/>
          </a:xfrm>
          <a:prstGeom prst="rect">
            <a:avLst/>
          </a:prstGeom>
          <a:noFill/>
        </p:spPr>
        <p:txBody>
          <a:bodyPr wrap="square" anchor="t" lIns="0" rIns="0" tIns="0" bIns="0">
            <a:spAutoFit/>
          </a:bodyPr>
          <a:lstStyle/>
          <a:p>
            <a:pPr algn="l">
              <a:lnSpc>
                <a:spcPct val="105000"/>
              </a:lnSpc>
              <a:spcAft>
                <a:spcPts val="400"/>
              </a:spcAft>
            </a:pPr>
            <a:r>
              <a:rPr sz="1300" b="0" i="0">
                <a:solidFill>
                  <a:srgbClr val="1E293B"/>
                </a:solidFill>
                <a:latin typeface="Calibri"/>
              </a:rPr>
              <a:t>Argo CD đồng bộ phiên bản mới lên Kubernetes</a:t>
            </a:r>
          </a:p>
        </p:txBody>
      </p:sp>
      <p:sp>
        <p:nvSpPr>
          <p:cNvPr id="11" name="Oval 10"/>
          <p:cNvSpPr/>
          <p:nvPr/>
        </p:nvSpPr>
        <p:spPr>
          <a:xfrm>
            <a:off x="868680" y="4983480"/>
            <a:ext cx="365760" cy="36576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2" name="TextBox 11"/>
          <p:cNvSpPr txBox="1"/>
          <p:nvPr/>
        </p:nvSpPr>
        <p:spPr>
          <a:xfrm>
            <a:off x="1371600" y="4965192"/>
            <a:ext cx="4023360" cy="868680"/>
          </a:xfrm>
          <a:prstGeom prst="rect">
            <a:avLst/>
          </a:prstGeom>
          <a:noFill/>
        </p:spPr>
        <p:txBody>
          <a:bodyPr wrap="square" anchor="t" lIns="0" rIns="0" tIns="0" bIns="0">
            <a:spAutoFit/>
          </a:bodyPr>
          <a:lstStyle/>
          <a:p>
            <a:pPr algn="l">
              <a:lnSpc>
                <a:spcPct val="105000"/>
              </a:lnSpc>
              <a:spcAft>
                <a:spcPts val="400"/>
              </a:spcAft>
            </a:pPr>
            <a:r>
              <a:rPr sz="1300" b="0" i="0">
                <a:solidFill>
                  <a:srgbClr val="1E293B"/>
                </a:solidFill>
                <a:latin typeface="Calibri"/>
              </a:rPr>
              <a:t>Ứng dụng vận hành; toàn trình chỉ vài phút, 0–1 thao tác tay</a:t>
            </a:r>
          </a:p>
        </p:txBody>
      </p:sp>
      <p:pic>
        <p:nvPicPr>
          <p:cNvPr id="13" name="Picture 12" descr="pipeline_run.png"/>
          <p:cNvPicPr>
            <a:picLocks noChangeAspect="1"/>
          </p:cNvPicPr>
          <p:nvPr/>
        </p:nvPicPr>
        <p:blipFill>
          <a:blip r:embed="rId2"/>
          <a:stretch>
            <a:fillRect/>
          </a:stretch>
        </p:blipFill>
        <p:spPr>
          <a:xfrm>
            <a:off x="5806440" y="2997987"/>
            <a:ext cx="5760720" cy="2096464"/>
          </a:xfrm>
          <a:prstGeom prst="rect">
            <a:avLst/>
          </a:prstGeom>
          <a:ln w="9525">
            <a:solidFill>
              <a:srgbClr val="DDE6EA"/>
            </a:solidFill>
          </a:ln>
        </p:spPr>
      </p:pic>
      <p:sp>
        <p:nvSpPr>
          <p:cNvPr id="14" name="TextBox 13"/>
          <p:cNvSpPr txBox="1"/>
          <p:nvPr/>
        </p:nvSpPr>
        <p:spPr>
          <a:xfrm>
            <a:off x="5806440" y="5440680"/>
            <a:ext cx="5760720" cy="292608"/>
          </a:xfrm>
          <a:prstGeom prst="rect">
            <a:avLst/>
          </a:prstGeom>
          <a:noFill/>
        </p:spPr>
        <p:txBody>
          <a:bodyPr wrap="square" anchor="t" lIns="0" rIns="0" tIns="0" bIns="0">
            <a:spAutoFit/>
          </a:bodyPr>
          <a:lstStyle/>
          <a:p>
            <a:pPr algn="ctr">
              <a:spcAft>
                <a:spcPts val="400"/>
              </a:spcAft>
            </a:pPr>
            <a:r>
              <a:rPr sz="1050" b="0" i="1">
                <a:solidFill>
                  <a:srgbClr val="64748B"/>
                </a:solidFill>
                <a:latin typeface="Calibri"/>
              </a:rPr>
              <a:t>Pipeline triển khai tự động &amp; thông báo Telegram (Jenkins Blue Ocean)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640080" y="457200"/>
            <a:ext cx="8229600" cy="365760"/>
          </a:xfrm>
          <a:prstGeom prst="rect">
            <a:avLst/>
          </a:prstGeom>
          <a:noFill/>
        </p:spPr>
        <p:txBody>
          <a:bodyPr wrap="square" anchor="t" lIns="0" rIns="0" tIns="0" bIns="0">
            <a:spAutoFit/>
          </a:bodyPr>
          <a:lstStyle/>
          <a:p>
            <a:pPr algn="l">
              <a:spcAft>
                <a:spcPts val="400"/>
              </a:spcAft>
            </a:pPr>
            <a:r>
              <a:rPr sz="1300" b="1" i="0">
                <a:solidFill>
                  <a:srgbClr val="0D9488"/>
                </a:solidFill>
                <a:latin typeface="Calibri"/>
              </a:rPr>
              <a:t>PHẦN 5 — DEMO &amp; ĐÁNH GIÁ</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spcAft>
                <a:spcPts val="400"/>
              </a:spcAft>
            </a:pPr>
            <a:r>
              <a:rPr sz="3000" b="1" i="0">
                <a:solidFill>
                  <a:srgbClr val="1E293B"/>
                </a:solidFill>
                <a:latin typeface="Calibri"/>
              </a:rPr>
              <a:t>Demo 2: Khôi phục sự cố (rollback)</a:t>
            </a:r>
          </a:p>
        </p:txBody>
      </p:sp>
      <p:sp>
        <p:nvSpPr>
          <p:cNvPr id="4" name="TextBox 3"/>
          <p:cNvSpPr txBox="1"/>
          <p:nvPr/>
        </p:nvSpPr>
        <p:spPr>
          <a:xfrm>
            <a:off x="640080" y="1481328"/>
            <a:ext cx="10881360" cy="457200"/>
          </a:xfrm>
          <a:prstGeom prst="rect">
            <a:avLst/>
          </a:prstGeom>
          <a:noFill/>
        </p:spPr>
        <p:txBody>
          <a:bodyPr wrap="square" anchor="t" lIns="0" rIns="0" tIns="0" bIns="0">
            <a:spAutoFit/>
          </a:bodyPr>
          <a:lstStyle/>
          <a:p>
            <a:pPr algn="l">
              <a:spcAft>
                <a:spcPts val="400"/>
              </a:spcAft>
            </a:pPr>
            <a:r>
              <a:rPr sz="1400" b="0" i="0">
                <a:solidFill>
                  <a:srgbClr val="64748B"/>
                </a:solidFill>
                <a:latin typeface="Calibri"/>
              </a:rPr>
              <a:t>Khi phiên bản gặp lỗi → Argo CD: History and Rollback → quay lui phiên bản ổn định trong vài phút</a:t>
            </a:r>
          </a:p>
        </p:txBody>
      </p:sp>
      <p:pic>
        <p:nvPicPr>
          <p:cNvPr id="5" name="Picture 4" descr="rollback.png"/>
          <p:cNvPicPr>
            <a:picLocks noChangeAspect="1"/>
          </p:cNvPicPr>
          <p:nvPr/>
        </p:nvPicPr>
        <p:blipFill>
          <a:blip r:embed="rId2"/>
          <a:stretch>
            <a:fillRect/>
          </a:stretch>
        </p:blipFill>
        <p:spPr>
          <a:xfrm>
            <a:off x="2072487" y="2191512"/>
            <a:ext cx="8046720" cy="3755136"/>
          </a:xfrm>
          <a:prstGeom prst="rect">
            <a:avLst/>
          </a:prstGeom>
          <a:ln w="9525">
            <a:solidFill>
              <a:srgbClr val="DDE6EA"/>
            </a:solidFill>
          </a:ln>
        </p:spPr>
      </p:pic>
      <p:sp>
        <p:nvSpPr>
          <p:cNvPr id="6" name="TextBox 5"/>
          <p:cNvSpPr txBox="1"/>
          <p:nvPr/>
        </p:nvSpPr>
        <p:spPr>
          <a:xfrm>
            <a:off x="640080" y="6126480"/>
            <a:ext cx="10911535" cy="365760"/>
          </a:xfrm>
          <a:prstGeom prst="rect">
            <a:avLst/>
          </a:prstGeom>
          <a:noFill/>
        </p:spPr>
        <p:txBody>
          <a:bodyPr wrap="square" anchor="t" lIns="0" rIns="0" tIns="0" bIns="0">
            <a:spAutoFit/>
          </a:bodyPr>
          <a:lstStyle/>
          <a:p>
            <a:pPr algn="ctr">
              <a:spcAft>
                <a:spcPts val="400"/>
              </a:spcAft>
            </a:pPr>
            <a:r>
              <a:rPr sz="1150" b="0" i="1">
                <a:solidFill>
                  <a:srgbClr val="64748B"/>
                </a:solidFill>
                <a:latin typeface="Calibri"/>
              </a:rPr>
              <a:t>Hình 5.5. Quay lui (rollback) về phiên bản ổn định qua Argo CD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640080" y="457200"/>
            <a:ext cx="8229600" cy="365760"/>
          </a:xfrm>
          <a:prstGeom prst="rect">
            <a:avLst/>
          </a:prstGeom>
          <a:noFill/>
        </p:spPr>
        <p:txBody>
          <a:bodyPr wrap="square" anchor="t" lIns="0" rIns="0" tIns="0" bIns="0">
            <a:spAutoFit/>
          </a:bodyPr>
          <a:lstStyle/>
          <a:p>
            <a:pPr algn="l">
              <a:spcAft>
                <a:spcPts val="400"/>
              </a:spcAft>
            </a:pPr>
            <a:r>
              <a:rPr sz="1300" b="1" i="0">
                <a:solidFill>
                  <a:srgbClr val="0D9488"/>
                </a:solidFill>
                <a:latin typeface="Calibri"/>
              </a:rPr>
              <a:t>PHẦN 5 — DEMO &amp; ĐÁNH GIÁ</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spcAft>
                <a:spcPts val="400"/>
              </a:spcAft>
            </a:pPr>
            <a:r>
              <a:rPr sz="3000" b="1" i="0">
                <a:solidFill>
                  <a:srgbClr val="1E293B"/>
                </a:solidFill>
                <a:latin typeface="Calibri"/>
              </a:rPr>
              <a:t>Đánh giá hiệu quả theo nhóm chỉ số DORA</a:t>
            </a:r>
          </a:p>
        </p:txBody>
      </p:sp>
      <p:sp>
        <p:nvSpPr>
          <p:cNvPr id="4" name="Rounded Rectangle 3"/>
          <p:cNvSpPr/>
          <p:nvPr/>
        </p:nvSpPr>
        <p:spPr>
          <a:xfrm>
            <a:off x="640080" y="2057400"/>
            <a:ext cx="2679192" cy="1371600"/>
          </a:xfrm>
          <a:prstGeom prst="roundRect">
            <a:avLst/>
          </a:prstGeom>
          <a:solidFill>
            <a:srgbClr val="EC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2194560"/>
            <a:ext cx="2313432" cy="457200"/>
          </a:xfrm>
          <a:prstGeom prst="rect">
            <a:avLst/>
          </a:prstGeom>
          <a:noFill/>
        </p:spPr>
        <p:txBody>
          <a:bodyPr wrap="square" anchor="t" lIns="0" rIns="0" tIns="0" bIns="0">
            <a:spAutoFit/>
          </a:bodyPr>
          <a:lstStyle/>
          <a:p>
            <a:pPr algn="l">
              <a:spcAft>
                <a:spcPts val="400"/>
              </a:spcAft>
            </a:pPr>
            <a:r>
              <a:rPr sz="1350" b="1" i="0">
                <a:solidFill>
                  <a:srgbClr val="0A6E66"/>
                </a:solidFill>
                <a:latin typeface="Calibri"/>
              </a:rPr>
              <a:t>Lead time</a:t>
            </a:r>
          </a:p>
        </p:txBody>
      </p:sp>
      <p:sp>
        <p:nvSpPr>
          <p:cNvPr id="6" name="TextBox 5"/>
          <p:cNvSpPr txBox="1"/>
          <p:nvPr/>
        </p:nvSpPr>
        <p:spPr>
          <a:xfrm>
            <a:off x="822959" y="2651760"/>
            <a:ext cx="2313432" cy="731520"/>
          </a:xfrm>
          <a:prstGeom prst="rect">
            <a:avLst/>
          </a:prstGeom>
          <a:noFill/>
        </p:spPr>
        <p:txBody>
          <a:bodyPr wrap="square" anchor="t" lIns="0" rIns="0" tIns="0" bIns="0">
            <a:spAutoFit/>
          </a:bodyPr>
          <a:lstStyle/>
          <a:p>
            <a:pPr algn="l">
              <a:lnSpc>
                <a:spcPct val="100000"/>
              </a:lnSpc>
              <a:spcAft>
                <a:spcPts val="400"/>
              </a:spcAft>
            </a:pPr>
            <a:r>
              <a:rPr sz="1300" b="1" i="0">
                <a:solidFill>
                  <a:srgbClr val="1E293B"/>
                </a:solidFill>
                <a:latin typeface="Calibri"/>
              </a:rPr>
              <a:t>vài giờ → ~5–10 phút</a:t>
            </a:r>
          </a:p>
        </p:txBody>
      </p:sp>
      <p:sp>
        <p:nvSpPr>
          <p:cNvPr id="7" name="Rounded Rectangle 6"/>
          <p:cNvSpPr/>
          <p:nvPr/>
        </p:nvSpPr>
        <p:spPr>
          <a:xfrm>
            <a:off x="3483864" y="2057400"/>
            <a:ext cx="2679192" cy="1371600"/>
          </a:xfrm>
          <a:prstGeom prst="roundRect">
            <a:avLst/>
          </a:prstGeom>
          <a:solidFill>
            <a:srgbClr val="EC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66744" y="2194560"/>
            <a:ext cx="2313432" cy="457200"/>
          </a:xfrm>
          <a:prstGeom prst="rect">
            <a:avLst/>
          </a:prstGeom>
          <a:noFill/>
        </p:spPr>
        <p:txBody>
          <a:bodyPr wrap="square" anchor="t" lIns="0" rIns="0" tIns="0" bIns="0">
            <a:spAutoFit/>
          </a:bodyPr>
          <a:lstStyle/>
          <a:p>
            <a:pPr algn="l">
              <a:spcAft>
                <a:spcPts val="400"/>
              </a:spcAft>
            </a:pPr>
            <a:r>
              <a:rPr sz="1350" b="1" i="0">
                <a:solidFill>
                  <a:srgbClr val="0A6E66"/>
                </a:solidFill>
                <a:latin typeface="Calibri"/>
              </a:rPr>
              <a:t>Tần suất triển khai</a:t>
            </a:r>
          </a:p>
        </p:txBody>
      </p:sp>
      <p:sp>
        <p:nvSpPr>
          <p:cNvPr id="9" name="TextBox 8"/>
          <p:cNvSpPr txBox="1"/>
          <p:nvPr/>
        </p:nvSpPr>
        <p:spPr>
          <a:xfrm>
            <a:off x="3666744" y="2651760"/>
            <a:ext cx="2313432" cy="731520"/>
          </a:xfrm>
          <a:prstGeom prst="rect">
            <a:avLst/>
          </a:prstGeom>
          <a:noFill/>
        </p:spPr>
        <p:txBody>
          <a:bodyPr wrap="square" anchor="t" lIns="0" rIns="0" tIns="0" bIns="0">
            <a:spAutoFit/>
          </a:bodyPr>
          <a:lstStyle/>
          <a:p>
            <a:pPr algn="l">
              <a:lnSpc>
                <a:spcPct val="100000"/>
              </a:lnSpc>
              <a:spcAft>
                <a:spcPts val="400"/>
              </a:spcAft>
            </a:pPr>
            <a:r>
              <a:rPr sz="1300" b="1" i="0">
                <a:solidFill>
                  <a:srgbClr val="1E293B"/>
                </a:solidFill>
                <a:latin typeface="Calibri"/>
              </a:rPr>
              <a:t>1–2 lần/tuần → nhiều lần/ngày</a:t>
            </a:r>
          </a:p>
        </p:txBody>
      </p:sp>
      <p:sp>
        <p:nvSpPr>
          <p:cNvPr id="10" name="Rounded Rectangle 9"/>
          <p:cNvSpPr/>
          <p:nvPr/>
        </p:nvSpPr>
        <p:spPr>
          <a:xfrm>
            <a:off x="6327648" y="2057400"/>
            <a:ext cx="2679192" cy="1371600"/>
          </a:xfrm>
          <a:prstGeom prst="roundRect">
            <a:avLst/>
          </a:prstGeom>
          <a:solidFill>
            <a:srgbClr val="EC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0528" y="2194560"/>
            <a:ext cx="2313432" cy="457200"/>
          </a:xfrm>
          <a:prstGeom prst="rect">
            <a:avLst/>
          </a:prstGeom>
          <a:noFill/>
        </p:spPr>
        <p:txBody>
          <a:bodyPr wrap="square" anchor="t" lIns="0" rIns="0" tIns="0" bIns="0">
            <a:spAutoFit/>
          </a:bodyPr>
          <a:lstStyle/>
          <a:p>
            <a:pPr algn="l">
              <a:spcAft>
                <a:spcPts val="400"/>
              </a:spcAft>
            </a:pPr>
            <a:r>
              <a:rPr sz="1350" b="1" i="0">
                <a:solidFill>
                  <a:srgbClr val="0A6E66"/>
                </a:solidFill>
                <a:latin typeface="Calibri"/>
              </a:rPr>
              <a:t>MTTR</a:t>
            </a:r>
          </a:p>
        </p:txBody>
      </p:sp>
      <p:sp>
        <p:nvSpPr>
          <p:cNvPr id="12" name="TextBox 11"/>
          <p:cNvSpPr txBox="1"/>
          <p:nvPr/>
        </p:nvSpPr>
        <p:spPr>
          <a:xfrm>
            <a:off x="6510528" y="2651760"/>
            <a:ext cx="2313432" cy="731520"/>
          </a:xfrm>
          <a:prstGeom prst="rect">
            <a:avLst/>
          </a:prstGeom>
          <a:noFill/>
        </p:spPr>
        <p:txBody>
          <a:bodyPr wrap="square" anchor="t" lIns="0" rIns="0" tIns="0" bIns="0">
            <a:spAutoFit/>
          </a:bodyPr>
          <a:lstStyle/>
          <a:p>
            <a:pPr algn="l">
              <a:lnSpc>
                <a:spcPct val="100000"/>
              </a:lnSpc>
              <a:spcAft>
                <a:spcPts val="400"/>
              </a:spcAft>
            </a:pPr>
            <a:r>
              <a:rPr sz="1300" b="1" i="0">
                <a:solidFill>
                  <a:srgbClr val="1E293B"/>
                </a:solidFill>
                <a:latin typeface="Calibri"/>
              </a:rPr>
              <a:t>30–60 phút → vài phút</a:t>
            </a:r>
          </a:p>
        </p:txBody>
      </p:sp>
      <p:sp>
        <p:nvSpPr>
          <p:cNvPr id="13" name="Rounded Rectangle 12"/>
          <p:cNvSpPr/>
          <p:nvPr/>
        </p:nvSpPr>
        <p:spPr>
          <a:xfrm>
            <a:off x="9171432" y="2057400"/>
            <a:ext cx="2679192" cy="1371600"/>
          </a:xfrm>
          <a:prstGeom prst="roundRect">
            <a:avLst/>
          </a:prstGeom>
          <a:solidFill>
            <a:srgbClr val="EC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54312" y="2194560"/>
            <a:ext cx="2313432" cy="457200"/>
          </a:xfrm>
          <a:prstGeom prst="rect">
            <a:avLst/>
          </a:prstGeom>
          <a:noFill/>
        </p:spPr>
        <p:txBody>
          <a:bodyPr wrap="square" anchor="t" lIns="0" rIns="0" tIns="0" bIns="0">
            <a:spAutoFit/>
          </a:bodyPr>
          <a:lstStyle/>
          <a:p>
            <a:pPr algn="l">
              <a:spcAft>
                <a:spcPts val="400"/>
              </a:spcAft>
            </a:pPr>
            <a:r>
              <a:rPr sz="1350" b="1" i="0">
                <a:solidFill>
                  <a:srgbClr val="0A6E66"/>
                </a:solidFill>
                <a:latin typeface="Calibri"/>
              </a:rPr>
              <a:t>Thao tác tay</a:t>
            </a:r>
          </a:p>
        </p:txBody>
      </p:sp>
      <p:sp>
        <p:nvSpPr>
          <p:cNvPr id="15" name="TextBox 14"/>
          <p:cNvSpPr txBox="1"/>
          <p:nvPr/>
        </p:nvSpPr>
        <p:spPr>
          <a:xfrm>
            <a:off x="9354312" y="2651760"/>
            <a:ext cx="2313432" cy="731520"/>
          </a:xfrm>
          <a:prstGeom prst="rect">
            <a:avLst/>
          </a:prstGeom>
          <a:noFill/>
        </p:spPr>
        <p:txBody>
          <a:bodyPr wrap="square" anchor="t" lIns="0" rIns="0" tIns="0" bIns="0">
            <a:spAutoFit/>
          </a:bodyPr>
          <a:lstStyle/>
          <a:p>
            <a:pPr algn="l">
              <a:lnSpc>
                <a:spcPct val="100000"/>
              </a:lnSpc>
              <a:spcAft>
                <a:spcPts val="400"/>
              </a:spcAft>
            </a:pPr>
            <a:r>
              <a:rPr sz="1300" b="1" i="0">
                <a:solidFill>
                  <a:srgbClr val="1E293B"/>
                </a:solidFill>
                <a:latin typeface="Calibri"/>
              </a:rPr>
              <a:t>nhiều bước → 0–1 bước</a:t>
            </a:r>
          </a:p>
        </p:txBody>
      </p:sp>
      <p:graphicFrame>
        <p:nvGraphicFramePr>
          <p:cNvPr id="16" name="Table 15"/>
          <p:cNvGraphicFramePr>
            <a:graphicFrameLocks noGrp="1"/>
          </p:cNvGraphicFramePr>
          <p:nvPr/>
        </p:nvGraphicFramePr>
        <p:xfrm>
          <a:off x="640080" y="3703320"/>
          <a:ext cx="10908792" cy="2286000"/>
        </p:xfrm>
        <a:graphic>
          <a:graphicData uri="http://schemas.openxmlformats.org/drawingml/2006/table">
            <a:tbl>
              <a:tblPr firstRow="1" bandRow="1">
                <a:tableStyleId>{5C22544A-7EE6-4342-B048-85BDC9FD1C3A}</a:tableStyleId>
              </a:tblPr>
              <a:tblGrid>
                <a:gridCol w="3566160"/>
                <a:gridCol w="2468880"/>
                <a:gridCol w="2468880"/>
                <a:gridCol w="2404872"/>
              </a:tblGrid>
              <a:tr h="457200">
                <a:tc>
                  <a:txBody>
                    <a:bodyPr/>
                    <a:lstStyle/>
                    <a:p>
                      <a:r>
                        <a:rPr sz="1250" b="1">
                          <a:solidFill>
                            <a:srgbClr val="FFFFFF"/>
                          </a:solidFill>
                          <a:latin typeface="Calibri"/>
                        </a:rPr>
                        <a:t>Chỉ số</a:t>
                      </a:r>
                    </a:p>
                  </a:txBody>
                  <a:tcPr marL="91440" marR="45720" marT="27432" marB="27432" anchor="ctr">
                    <a:solidFill>
                      <a:srgbClr val="0D9488"/>
                    </a:solidFill>
                  </a:tcPr>
                </a:tc>
                <a:tc>
                  <a:txBody>
                    <a:bodyPr/>
                    <a:lstStyle/>
                    <a:p>
                      <a:r>
                        <a:rPr sz="1250" b="1">
                          <a:solidFill>
                            <a:srgbClr val="FFFFFF"/>
                          </a:solidFill>
                          <a:latin typeface="Calibri"/>
                        </a:rPr>
                        <a:t>Trước (thủ công)</a:t>
                      </a:r>
                    </a:p>
                  </a:txBody>
                  <a:tcPr marL="91440" marR="45720" marT="27432" marB="27432" anchor="ctr">
                    <a:solidFill>
                      <a:srgbClr val="0D9488"/>
                    </a:solidFill>
                  </a:tcPr>
                </a:tc>
                <a:tc>
                  <a:txBody>
                    <a:bodyPr/>
                    <a:lstStyle/>
                    <a:p>
                      <a:r>
                        <a:rPr sz="1250" b="1">
                          <a:solidFill>
                            <a:srgbClr val="FFFFFF"/>
                          </a:solidFill>
                          <a:latin typeface="Calibri"/>
                        </a:rPr>
                        <a:t>Sau (CI/CD)</a:t>
                      </a:r>
                    </a:p>
                  </a:txBody>
                  <a:tcPr marL="91440" marR="45720" marT="27432" marB="27432" anchor="ctr">
                    <a:solidFill>
                      <a:srgbClr val="0D9488"/>
                    </a:solidFill>
                  </a:tcPr>
                </a:tc>
                <a:tc>
                  <a:txBody>
                    <a:bodyPr/>
                    <a:lstStyle/>
                    <a:p>
                      <a:r>
                        <a:rPr sz="1250" b="1">
                          <a:solidFill>
                            <a:srgbClr val="FFFFFF"/>
                          </a:solidFill>
                          <a:latin typeface="Calibri"/>
                        </a:rPr>
                        <a:t>Cải thiện</a:t>
                      </a:r>
                    </a:p>
                  </a:txBody>
                  <a:tcPr marL="91440" marR="45720" marT="27432" marB="27432" anchor="ctr">
                    <a:solidFill>
                      <a:srgbClr val="0D9488"/>
                    </a:solidFill>
                  </a:tcPr>
                </a:tc>
              </a:tr>
              <a:tr h="457200">
                <a:tc>
                  <a:txBody>
                    <a:bodyPr/>
                    <a:lstStyle/>
                    <a:p>
                      <a:r>
                        <a:rPr sz="1200" b="1">
                          <a:solidFill>
                            <a:srgbClr val="1E293B"/>
                          </a:solidFill>
                          <a:latin typeface="Calibri"/>
                        </a:rPr>
                        <a:t>Lead time (tag → vận hành)</a:t>
                      </a:r>
                    </a:p>
                  </a:txBody>
                  <a:tcPr marL="91440" marR="45720" marT="27432" marB="27432" anchor="ctr">
                    <a:solidFill>
                      <a:srgbClr val="FFFFFF"/>
                    </a:solidFill>
                  </a:tcPr>
                </a:tc>
                <a:tc>
                  <a:txBody>
                    <a:bodyPr/>
                    <a:lstStyle/>
                    <a:p>
                      <a:r>
                        <a:rPr sz="1200" b="0">
                          <a:solidFill>
                            <a:srgbClr val="1E293B"/>
                          </a:solidFill>
                          <a:latin typeface="Calibri"/>
                        </a:rPr>
                        <a:t>~ vài giờ</a:t>
                      </a:r>
                    </a:p>
                  </a:txBody>
                  <a:tcPr marL="91440" marR="45720" marT="27432" marB="27432" anchor="ctr">
                    <a:solidFill>
                      <a:srgbClr val="FFFFFF"/>
                    </a:solidFill>
                  </a:tcPr>
                </a:tc>
                <a:tc>
                  <a:txBody>
                    <a:bodyPr/>
                    <a:lstStyle/>
                    <a:p>
                      <a:r>
                        <a:rPr sz="1200" b="0">
                          <a:solidFill>
                            <a:srgbClr val="1E293B"/>
                          </a:solidFill>
                          <a:latin typeface="Calibri"/>
                        </a:rPr>
                        <a:t>~ 5–10 phút</a:t>
                      </a:r>
                    </a:p>
                  </a:txBody>
                  <a:tcPr marL="91440" marR="45720" marT="27432" marB="27432" anchor="ctr">
                    <a:solidFill>
                      <a:srgbClr val="FFFFFF"/>
                    </a:solidFill>
                  </a:tcPr>
                </a:tc>
                <a:tc>
                  <a:txBody>
                    <a:bodyPr/>
                    <a:lstStyle/>
                    <a:p>
                      <a:r>
                        <a:rPr sz="1200" b="1">
                          <a:solidFill>
                            <a:srgbClr val="0D9488"/>
                          </a:solidFill>
                          <a:latin typeface="Calibri"/>
                        </a:rPr>
                        <a:t>Rút ngắn mạnh</a:t>
                      </a:r>
                    </a:p>
                  </a:txBody>
                  <a:tcPr marL="91440" marR="45720" marT="27432" marB="27432" anchor="ctr">
                    <a:solidFill>
                      <a:srgbClr val="FFFFFF"/>
                    </a:solidFill>
                  </a:tcPr>
                </a:tc>
              </a:tr>
              <a:tr h="457200">
                <a:tc>
                  <a:txBody>
                    <a:bodyPr/>
                    <a:lstStyle/>
                    <a:p>
                      <a:r>
                        <a:rPr sz="1200" b="1">
                          <a:solidFill>
                            <a:srgbClr val="1E293B"/>
                          </a:solidFill>
                          <a:latin typeface="Calibri"/>
                        </a:rPr>
                        <a:t>Tần suất triển khai</a:t>
                      </a:r>
                    </a:p>
                  </a:txBody>
                  <a:tcPr marL="91440" marR="45720" marT="27432" marB="27432" anchor="ctr">
                    <a:solidFill>
                      <a:srgbClr val="ECF4F6"/>
                    </a:solidFill>
                  </a:tcPr>
                </a:tc>
                <a:tc>
                  <a:txBody>
                    <a:bodyPr/>
                    <a:lstStyle/>
                    <a:p>
                      <a:r>
                        <a:rPr sz="1200" b="0">
                          <a:solidFill>
                            <a:srgbClr val="1E293B"/>
                          </a:solidFill>
                          <a:latin typeface="Calibri"/>
                        </a:rPr>
                        <a:t>1–2 lần/tuần</a:t>
                      </a:r>
                    </a:p>
                  </a:txBody>
                  <a:tcPr marL="91440" marR="45720" marT="27432" marB="27432" anchor="ctr">
                    <a:solidFill>
                      <a:srgbClr val="ECF4F6"/>
                    </a:solidFill>
                  </a:tcPr>
                </a:tc>
                <a:tc>
                  <a:txBody>
                    <a:bodyPr/>
                    <a:lstStyle/>
                    <a:p>
                      <a:r>
                        <a:rPr sz="1200" b="0">
                          <a:solidFill>
                            <a:srgbClr val="1E293B"/>
                          </a:solidFill>
                          <a:latin typeface="Calibri"/>
                        </a:rPr>
                        <a:t>Nhiều lần/ngày</a:t>
                      </a:r>
                    </a:p>
                  </a:txBody>
                  <a:tcPr marL="91440" marR="45720" marT="27432" marB="27432" anchor="ctr">
                    <a:solidFill>
                      <a:srgbClr val="ECF4F6"/>
                    </a:solidFill>
                  </a:tcPr>
                </a:tc>
                <a:tc>
                  <a:txBody>
                    <a:bodyPr/>
                    <a:lstStyle/>
                    <a:p>
                      <a:r>
                        <a:rPr sz="1200" b="1">
                          <a:solidFill>
                            <a:srgbClr val="0D9488"/>
                          </a:solidFill>
                          <a:latin typeface="Calibri"/>
                        </a:rPr>
                        <a:t>Tăng cao</a:t>
                      </a:r>
                    </a:p>
                  </a:txBody>
                  <a:tcPr marL="91440" marR="45720" marT="27432" marB="27432" anchor="ctr">
                    <a:solidFill>
                      <a:srgbClr val="ECF4F6"/>
                    </a:solidFill>
                  </a:tcPr>
                </a:tc>
              </a:tr>
              <a:tr h="457200">
                <a:tc>
                  <a:txBody>
                    <a:bodyPr/>
                    <a:lstStyle/>
                    <a:p>
                      <a:r>
                        <a:rPr sz="1200" b="1">
                          <a:solidFill>
                            <a:srgbClr val="1E293B"/>
                          </a:solidFill>
                          <a:latin typeface="Calibri"/>
                        </a:rPr>
                        <a:t>MTTR (khôi phục sự cố)</a:t>
                      </a:r>
                    </a:p>
                  </a:txBody>
                  <a:tcPr marL="91440" marR="45720" marT="27432" marB="27432" anchor="ctr">
                    <a:solidFill>
                      <a:srgbClr val="FFFFFF"/>
                    </a:solidFill>
                  </a:tcPr>
                </a:tc>
                <a:tc>
                  <a:txBody>
                    <a:bodyPr/>
                    <a:lstStyle/>
                    <a:p>
                      <a:r>
                        <a:rPr sz="1200" b="0">
                          <a:solidFill>
                            <a:srgbClr val="1E293B"/>
                          </a:solidFill>
                          <a:latin typeface="Calibri"/>
                        </a:rPr>
                        <a:t>~ 30–60 phút</a:t>
                      </a:r>
                    </a:p>
                  </a:txBody>
                  <a:tcPr marL="91440" marR="45720" marT="27432" marB="27432" anchor="ctr">
                    <a:solidFill>
                      <a:srgbClr val="FFFFFF"/>
                    </a:solidFill>
                  </a:tcPr>
                </a:tc>
                <a:tc>
                  <a:txBody>
                    <a:bodyPr/>
                    <a:lstStyle/>
                    <a:p>
                      <a:r>
                        <a:rPr sz="1200" b="0">
                          <a:solidFill>
                            <a:srgbClr val="1E293B"/>
                          </a:solidFill>
                          <a:latin typeface="Calibri"/>
                        </a:rPr>
                        <a:t>~ vài phút</a:t>
                      </a:r>
                    </a:p>
                  </a:txBody>
                  <a:tcPr marL="91440" marR="45720" marT="27432" marB="27432" anchor="ctr">
                    <a:solidFill>
                      <a:srgbClr val="FFFFFF"/>
                    </a:solidFill>
                  </a:tcPr>
                </a:tc>
                <a:tc>
                  <a:txBody>
                    <a:bodyPr/>
                    <a:lstStyle/>
                    <a:p>
                      <a:r>
                        <a:rPr sz="1200" b="1">
                          <a:solidFill>
                            <a:srgbClr val="0D9488"/>
                          </a:solidFill>
                          <a:latin typeface="Calibri"/>
                        </a:rPr>
                        <a:t>Giảm mạnh</a:t>
                      </a:r>
                    </a:p>
                  </a:txBody>
                  <a:tcPr marL="91440" marR="45720" marT="27432" marB="27432" anchor="ctr">
                    <a:solidFill>
                      <a:srgbClr val="FFFFFF"/>
                    </a:solidFill>
                  </a:tcPr>
                </a:tc>
              </a:tr>
              <a:tr h="457200">
                <a:tc>
                  <a:txBody>
                    <a:bodyPr/>
                    <a:lstStyle/>
                    <a:p>
                      <a:r>
                        <a:rPr sz="1200" b="1">
                          <a:solidFill>
                            <a:srgbClr val="1E293B"/>
                          </a:solidFill>
                          <a:latin typeface="Calibri"/>
                        </a:rPr>
                        <a:t>Tỉ lệ thay đổi gây lỗi</a:t>
                      </a:r>
                    </a:p>
                  </a:txBody>
                  <a:tcPr marL="91440" marR="45720" marT="27432" marB="27432" anchor="ctr">
                    <a:solidFill>
                      <a:srgbClr val="ECF4F6"/>
                    </a:solidFill>
                  </a:tcPr>
                </a:tc>
                <a:tc>
                  <a:txBody>
                    <a:bodyPr/>
                    <a:lstStyle/>
                    <a:p>
                      <a:r>
                        <a:rPr sz="1200" b="0">
                          <a:solidFill>
                            <a:srgbClr val="1E293B"/>
                          </a:solidFill>
                          <a:latin typeface="Calibri"/>
                        </a:rPr>
                        <a:t>Cao</a:t>
                      </a:r>
                    </a:p>
                  </a:txBody>
                  <a:tcPr marL="91440" marR="45720" marT="27432" marB="27432" anchor="ctr">
                    <a:solidFill>
                      <a:srgbClr val="ECF4F6"/>
                    </a:solidFill>
                  </a:tcPr>
                </a:tc>
                <a:tc>
                  <a:txBody>
                    <a:bodyPr/>
                    <a:lstStyle/>
                    <a:p>
                      <a:r>
                        <a:rPr sz="1200" b="0">
                          <a:solidFill>
                            <a:srgbClr val="1E293B"/>
                          </a:solidFill>
                          <a:latin typeface="Calibri"/>
                        </a:rPr>
                        <a:t>Thấp (~5%)</a:t>
                      </a:r>
                    </a:p>
                  </a:txBody>
                  <a:tcPr marL="91440" marR="45720" marT="27432" marB="27432" anchor="ctr">
                    <a:solidFill>
                      <a:srgbClr val="ECF4F6"/>
                    </a:solidFill>
                  </a:tcPr>
                </a:tc>
                <a:tc>
                  <a:txBody>
                    <a:bodyPr/>
                    <a:lstStyle/>
                    <a:p>
                      <a:r>
                        <a:rPr sz="1200" b="1">
                          <a:solidFill>
                            <a:srgbClr val="0D9488"/>
                          </a:solidFill>
                          <a:latin typeface="Calibri"/>
                        </a:rPr>
                        <a:t>Cải thiện</a:t>
                      </a:r>
                    </a:p>
                  </a:txBody>
                  <a:tcPr marL="91440" marR="45720" marT="27432" marB="27432" anchor="ctr">
                    <a:solidFill>
                      <a:srgbClr val="ECF4F6"/>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Oval 1"/>
          <p:cNvSpPr/>
          <p:nvPr/>
        </p:nvSpPr>
        <p:spPr>
          <a:xfrm>
            <a:off x="640080" y="566928"/>
            <a:ext cx="237744" cy="23774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4127" y="566928"/>
            <a:ext cx="237744" cy="237744"/>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08176" y="566928"/>
            <a:ext cx="237744" cy="237744"/>
          </a:xfrm>
          <a:prstGeom prst="ellipse">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05840"/>
            <a:ext cx="10972800" cy="822960"/>
          </a:xfrm>
          <a:prstGeom prst="rect">
            <a:avLst/>
          </a:prstGeom>
          <a:noFill/>
        </p:spPr>
        <p:txBody>
          <a:bodyPr wrap="square" anchor="t" lIns="0" rIns="0" tIns="0" bIns="0">
            <a:spAutoFit/>
          </a:bodyPr>
          <a:lstStyle/>
          <a:p>
            <a:pPr algn="l">
              <a:spcAft>
                <a:spcPts val="400"/>
              </a:spcAft>
            </a:pPr>
            <a:r>
              <a:rPr sz="3200" b="1" i="0">
                <a:solidFill>
                  <a:srgbClr val="1E293B"/>
                </a:solidFill>
                <a:latin typeface="Calibri"/>
              </a:rPr>
              <a:t>Kết luận &amp; Hướng phát triển</a:t>
            </a:r>
          </a:p>
        </p:txBody>
      </p:sp>
      <p:sp>
        <p:nvSpPr>
          <p:cNvPr id="6" name="Rounded Rectangle 5"/>
          <p:cNvSpPr/>
          <p:nvPr/>
        </p:nvSpPr>
        <p:spPr>
          <a:xfrm>
            <a:off x="640080" y="1965960"/>
            <a:ext cx="5486400" cy="3886200"/>
          </a:xfrm>
          <a:prstGeom prst="roundRect">
            <a:avLst/>
          </a:prstGeom>
          <a:solidFill>
            <a:srgbClr val="EC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48840"/>
            <a:ext cx="5029200" cy="457200"/>
          </a:xfrm>
          <a:prstGeom prst="rect">
            <a:avLst/>
          </a:prstGeom>
          <a:noFill/>
        </p:spPr>
        <p:txBody>
          <a:bodyPr wrap="square" anchor="t" lIns="0" rIns="0" tIns="0" bIns="0">
            <a:spAutoFit/>
          </a:bodyPr>
          <a:lstStyle/>
          <a:p>
            <a:pPr algn="l">
              <a:spcAft>
                <a:spcPts val="400"/>
              </a:spcAft>
            </a:pPr>
            <a:r>
              <a:rPr sz="1500" b="1" i="0">
                <a:solidFill>
                  <a:srgbClr val="0A6E66"/>
                </a:solidFill>
                <a:latin typeface="Calibri"/>
              </a:rPr>
              <a:t>KẾT QUẢ ĐẠT ĐƯỢC</a:t>
            </a:r>
          </a:p>
        </p:txBody>
      </p:sp>
      <p:sp>
        <p:nvSpPr>
          <p:cNvPr id="8" name="Oval 7"/>
          <p:cNvSpPr/>
          <p:nvPr/>
        </p:nvSpPr>
        <p:spPr>
          <a:xfrm>
            <a:off x="914400" y="2715768"/>
            <a:ext cx="109728" cy="1097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651760"/>
            <a:ext cx="4754880" cy="731520"/>
          </a:xfrm>
          <a:prstGeom prst="rect">
            <a:avLst/>
          </a:prstGeom>
          <a:noFill/>
        </p:spPr>
        <p:txBody>
          <a:bodyPr wrap="square" anchor="t" lIns="0" rIns="0" tIns="0" bIns="0">
            <a:spAutoFit/>
          </a:bodyPr>
          <a:lstStyle/>
          <a:p>
            <a:pPr algn="l">
              <a:lnSpc>
                <a:spcPct val="105000"/>
              </a:lnSpc>
              <a:spcAft>
                <a:spcPts val="400"/>
              </a:spcAft>
            </a:pPr>
            <a:r>
              <a:rPr sz="1250" b="0" i="0">
                <a:solidFill>
                  <a:srgbClr val="1E293B"/>
                </a:solidFill>
                <a:latin typeface="Calibri"/>
              </a:rPr>
              <a:t>Nền tảng CI/CD chạy end-to-end theo GitOps với Argo CD trên Kubernetes</a:t>
            </a:r>
          </a:p>
        </p:txBody>
      </p:sp>
      <p:sp>
        <p:nvSpPr>
          <p:cNvPr id="10" name="Oval 9"/>
          <p:cNvSpPr/>
          <p:nvPr/>
        </p:nvSpPr>
        <p:spPr>
          <a:xfrm>
            <a:off x="914400" y="3493008"/>
            <a:ext cx="109728" cy="1097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3429000"/>
            <a:ext cx="4754880" cy="731520"/>
          </a:xfrm>
          <a:prstGeom prst="rect">
            <a:avLst/>
          </a:prstGeom>
          <a:noFill/>
        </p:spPr>
        <p:txBody>
          <a:bodyPr wrap="square" anchor="t" lIns="0" rIns="0" tIns="0" bIns="0">
            <a:spAutoFit/>
          </a:bodyPr>
          <a:lstStyle/>
          <a:p>
            <a:pPr algn="l">
              <a:lnSpc>
                <a:spcPct val="105000"/>
              </a:lnSpc>
              <a:spcAft>
                <a:spcPts val="400"/>
              </a:spcAft>
            </a:pPr>
            <a:r>
              <a:rPr sz="1250" b="0" i="0">
                <a:solidFill>
                  <a:srgbClr val="1E293B"/>
                </a:solidFill>
                <a:latin typeface="Calibri"/>
              </a:rPr>
              <a:t>Kiểm soát chất lượng &amp; quét bảo mật image tự động trong pipeline</a:t>
            </a:r>
          </a:p>
        </p:txBody>
      </p:sp>
      <p:sp>
        <p:nvSpPr>
          <p:cNvPr id="12" name="Oval 11"/>
          <p:cNvSpPr/>
          <p:nvPr/>
        </p:nvSpPr>
        <p:spPr>
          <a:xfrm>
            <a:off x="914400" y="4270248"/>
            <a:ext cx="109728" cy="1097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206240"/>
            <a:ext cx="4754880" cy="731520"/>
          </a:xfrm>
          <a:prstGeom prst="rect">
            <a:avLst/>
          </a:prstGeom>
          <a:noFill/>
        </p:spPr>
        <p:txBody>
          <a:bodyPr wrap="square" anchor="t" lIns="0" rIns="0" tIns="0" bIns="0">
            <a:spAutoFit/>
          </a:bodyPr>
          <a:lstStyle/>
          <a:p>
            <a:pPr algn="l">
              <a:lnSpc>
                <a:spcPct val="105000"/>
              </a:lnSpc>
              <a:spcAft>
                <a:spcPts val="400"/>
              </a:spcAft>
            </a:pPr>
            <a:r>
              <a:rPr sz="1250" b="0" i="0">
                <a:solidFill>
                  <a:srgbClr val="1E293B"/>
                </a:solidFill>
                <a:latin typeface="Calibri"/>
              </a:rPr>
              <a:t>Giám sát tập trung log + metrics, có cảnh báo &amp; thông báo Telegram</a:t>
            </a:r>
          </a:p>
        </p:txBody>
      </p:sp>
      <p:sp>
        <p:nvSpPr>
          <p:cNvPr id="14" name="Oval 13"/>
          <p:cNvSpPr/>
          <p:nvPr/>
        </p:nvSpPr>
        <p:spPr>
          <a:xfrm>
            <a:off x="914400" y="5047488"/>
            <a:ext cx="109728" cy="1097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4983479"/>
            <a:ext cx="4754880" cy="731520"/>
          </a:xfrm>
          <a:prstGeom prst="rect">
            <a:avLst/>
          </a:prstGeom>
          <a:noFill/>
        </p:spPr>
        <p:txBody>
          <a:bodyPr wrap="square" anchor="t" lIns="0" rIns="0" tIns="0" bIns="0">
            <a:spAutoFit/>
          </a:bodyPr>
          <a:lstStyle/>
          <a:p>
            <a:pPr algn="l">
              <a:lnSpc>
                <a:spcPct val="105000"/>
              </a:lnSpc>
              <a:spcAft>
                <a:spcPts val="400"/>
              </a:spcAft>
            </a:pPr>
            <a:r>
              <a:rPr sz="1250" b="0" i="0">
                <a:solidFill>
                  <a:srgbClr val="1E293B"/>
                </a:solidFill>
                <a:latin typeface="Calibri"/>
              </a:rPr>
              <a:t>Quản trị an toàn qua JUMP; cải thiện rõ rệt các chỉ số DORA</a:t>
            </a:r>
          </a:p>
        </p:txBody>
      </p:sp>
      <p:sp>
        <p:nvSpPr>
          <p:cNvPr id="16" name="Rounded Rectangle 15"/>
          <p:cNvSpPr/>
          <p:nvPr/>
        </p:nvSpPr>
        <p:spPr>
          <a:xfrm>
            <a:off x="6400800" y="1965960"/>
            <a:ext cx="5120640" cy="3886200"/>
          </a:xfrm>
          <a:prstGeom prst="roundRect">
            <a:avLst/>
          </a:prstGeom>
          <a:solidFill>
            <a:srgbClr val="E3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0" y="2148840"/>
            <a:ext cx="4572000" cy="457200"/>
          </a:xfrm>
          <a:prstGeom prst="rect">
            <a:avLst/>
          </a:prstGeom>
          <a:noFill/>
        </p:spPr>
        <p:txBody>
          <a:bodyPr wrap="square" anchor="t" lIns="0" rIns="0" tIns="0" bIns="0">
            <a:spAutoFit/>
          </a:bodyPr>
          <a:lstStyle/>
          <a:p>
            <a:pPr algn="l">
              <a:spcAft>
                <a:spcPts val="400"/>
              </a:spcAft>
            </a:pPr>
            <a:r>
              <a:rPr sz="1450" b="1" i="0">
                <a:solidFill>
                  <a:srgbClr val="0A6E66"/>
                </a:solidFill>
                <a:latin typeface="Calibri"/>
              </a:rPr>
              <a:t>HƯỚNG PHÁT TRIỂN — MLOps &amp; AIOps</a:t>
            </a:r>
          </a:p>
        </p:txBody>
      </p:sp>
      <p:sp>
        <p:nvSpPr>
          <p:cNvPr id="18" name="Oval 17"/>
          <p:cNvSpPr/>
          <p:nvPr/>
        </p:nvSpPr>
        <p:spPr>
          <a:xfrm>
            <a:off x="6675120" y="2761488"/>
            <a:ext cx="109728" cy="109728"/>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03720" y="2697480"/>
            <a:ext cx="4434840" cy="1005840"/>
          </a:xfrm>
          <a:prstGeom prst="rect">
            <a:avLst/>
          </a:prstGeom>
          <a:noFill/>
        </p:spPr>
        <p:txBody>
          <a:bodyPr wrap="square" anchor="t" lIns="0" rIns="0" tIns="0" bIns="0">
            <a:spAutoFit/>
          </a:bodyPr>
          <a:lstStyle/>
          <a:p>
            <a:pPr algn="l">
              <a:lnSpc>
                <a:spcPct val="105000"/>
              </a:lnSpc>
              <a:spcAft>
                <a:spcPts val="400"/>
              </a:spcAft>
            </a:pPr>
            <a:r>
              <a:rPr sz="1250" b="1" i="0">
                <a:solidFill>
                  <a:srgbClr val="0A6E66"/>
                </a:solidFill>
                <a:latin typeface="Calibri"/>
              </a:rPr>
              <a:t>MLOps: </a:t>
            </a:r>
            <a:r>
              <a:rPr sz="1200" b="0" i="0">
                <a:solidFill>
                  <a:srgbClr val="1E293B"/>
                </a:solidFill>
                <a:latin typeface="Calibri"/>
              </a:rPr>
              <a:t>Áp dụng CI/CD–GitOps cho vòng đời mô hình ML: quản lý phiên bản dữ liệu/mô hình, CI/CD/CT, model registry, giám sát drift</a:t>
            </a:r>
          </a:p>
        </p:txBody>
      </p:sp>
      <p:sp>
        <p:nvSpPr>
          <p:cNvPr id="20" name="Oval 19"/>
          <p:cNvSpPr/>
          <p:nvPr/>
        </p:nvSpPr>
        <p:spPr>
          <a:xfrm>
            <a:off x="6675120" y="3785616"/>
            <a:ext cx="109728" cy="109728"/>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03720" y="3721608"/>
            <a:ext cx="4434840" cy="1005840"/>
          </a:xfrm>
          <a:prstGeom prst="rect">
            <a:avLst/>
          </a:prstGeom>
          <a:noFill/>
        </p:spPr>
        <p:txBody>
          <a:bodyPr wrap="square" anchor="t" lIns="0" rIns="0" tIns="0" bIns="0">
            <a:spAutoFit/>
          </a:bodyPr>
          <a:lstStyle/>
          <a:p>
            <a:pPr algn="l">
              <a:lnSpc>
                <a:spcPct val="105000"/>
              </a:lnSpc>
              <a:spcAft>
                <a:spcPts val="400"/>
              </a:spcAft>
            </a:pPr>
            <a:r>
              <a:rPr sz="1250" b="1" i="0">
                <a:solidFill>
                  <a:srgbClr val="0A6E66"/>
                </a:solidFill>
                <a:latin typeface="Calibri"/>
              </a:rPr>
              <a:t>AIOps: </a:t>
            </a:r>
            <a:r>
              <a:rPr sz="1200" b="0" i="0">
                <a:solidFill>
                  <a:srgbClr val="1E293B"/>
                </a:solidFill>
                <a:latin typeface="Calibri"/>
              </a:rPr>
              <a:t>Dùng AI phân tích log &amp; metrics để tự phát hiện bất thường, dự báo và cảnh báo sớm sự cố</a:t>
            </a:r>
          </a:p>
        </p:txBody>
      </p:sp>
      <p:sp>
        <p:nvSpPr>
          <p:cNvPr id="22" name="Oval 21"/>
          <p:cNvSpPr/>
          <p:nvPr/>
        </p:nvSpPr>
        <p:spPr>
          <a:xfrm>
            <a:off x="6675120" y="4809744"/>
            <a:ext cx="109728" cy="109728"/>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03720" y="4745736"/>
            <a:ext cx="4434840" cy="1005840"/>
          </a:xfrm>
          <a:prstGeom prst="rect">
            <a:avLst/>
          </a:prstGeom>
          <a:noFill/>
        </p:spPr>
        <p:txBody>
          <a:bodyPr wrap="square" anchor="t" lIns="0" rIns="0" tIns="0" bIns="0">
            <a:spAutoFit/>
          </a:bodyPr>
          <a:lstStyle/>
          <a:p>
            <a:pPr algn="l">
              <a:lnSpc>
                <a:spcPct val="105000"/>
              </a:lnSpc>
              <a:spcAft>
                <a:spcPts val="400"/>
              </a:spcAft>
            </a:pPr>
            <a:r>
              <a:rPr sz="1250" b="1" i="0">
                <a:solidFill>
                  <a:srgbClr val="0A6E66"/>
                </a:solidFill>
                <a:latin typeface="Calibri"/>
              </a:rPr>
              <a:t>Bảo mật &amp; phát hành: </a:t>
            </a:r>
            <a:r>
              <a:rPr sz="1200" b="0" i="0">
                <a:solidFill>
                  <a:srgbClr val="1E293B"/>
                </a:solidFill>
                <a:latin typeface="Calibri"/>
              </a:rPr>
              <a:t>Vault/SSO, ký image (Cosign), kiểm soát chấp nhận (Kyverno); canary/blue-green tự rollback theo SLO</a:t>
            </a:r>
          </a:p>
        </p:txBody>
      </p:sp>
      <p:sp>
        <p:nvSpPr>
          <p:cNvPr id="24" name="TextBox 23"/>
          <p:cNvSpPr txBox="1"/>
          <p:nvPr/>
        </p:nvSpPr>
        <p:spPr>
          <a:xfrm>
            <a:off x="640080" y="6126480"/>
            <a:ext cx="10972800" cy="457200"/>
          </a:xfrm>
          <a:prstGeom prst="rect">
            <a:avLst/>
          </a:prstGeom>
          <a:noFill/>
        </p:spPr>
        <p:txBody>
          <a:bodyPr wrap="square" anchor="t" lIns="0" rIns="0" tIns="0" bIns="0">
            <a:spAutoFit/>
          </a:bodyPr>
          <a:lstStyle/>
          <a:p>
            <a:pPr algn="ctr">
              <a:spcAft>
                <a:spcPts val="400"/>
              </a:spcAft>
            </a:pPr>
            <a:r>
              <a:rPr sz="1500" b="1" i="1">
                <a:solidFill>
                  <a:srgbClr val="0A6E66"/>
                </a:solidFill>
                <a:latin typeface="Calibri"/>
              </a:rPr>
              <a:t>Trân trọng cảm ơn quý thầy cô và các bạn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